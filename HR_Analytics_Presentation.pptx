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876" y="-5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nonye" userId="866d2084ac12d9e5" providerId="LiveId" clId="{47D6E727-9C75-402B-9DC5-2180D8462D2F}"/>
    <pc:docChg chg="modSld">
      <pc:chgData name="chinonye" userId="866d2084ac12d9e5" providerId="LiveId" clId="{47D6E727-9C75-402B-9DC5-2180D8462D2F}" dt="2026-07-06T11:29:47.708" v="66" actId="255"/>
      <pc:docMkLst>
        <pc:docMk/>
      </pc:docMkLst>
      <pc:sldChg chg="modSp mod">
        <pc:chgData name="chinonye" userId="866d2084ac12d9e5" providerId="LiveId" clId="{47D6E727-9C75-402B-9DC5-2180D8462D2F}" dt="2026-07-06T11:29:47.708" v="66" actId="255"/>
        <pc:sldMkLst>
          <pc:docMk/>
          <pc:sldMk cId="0" sldId="256"/>
        </pc:sldMkLst>
        <pc:spChg chg="mod">
          <ac:chgData name="chinonye" userId="866d2084ac12d9e5" providerId="LiveId" clId="{47D6E727-9C75-402B-9DC5-2180D8462D2F}" dt="2026-07-06T11:29:47.708" v="66" actId="255"/>
          <ac:spMkLst>
            <pc:docMk/>
            <pc:sldMk cId="0" sldId="256"/>
            <ac:spMk id="8" creationId="{00000000-0000-0000-0000-000000000000}"/>
          </ac:spMkLst>
        </pc:spChg>
      </pc:sldChg>
      <pc:sldChg chg="modSp mod">
        <pc:chgData name="chinonye" userId="866d2084ac12d9e5" providerId="LiveId" clId="{47D6E727-9C75-402B-9DC5-2180D8462D2F}" dt="2026-07-06T11:26:49.726" v="3" actId="20577"/>
        <pc:sldMkLst>
          <pc:docMk/>
          <pc:sldMk cId="0" sldId="260"/>
        </pc:sldMkLst>
        <pc:spChg chg="mod">
          <ac:chgData name="chinonye" userId="866d2084ac12d9e5" providerId="LiveId" clId="{47D6E727-9C75-402B-9DC5-2180D8462D2F}" dt="2026-07-06T11:26:49.726" v="3" actId="20577"/>
          <ac:spMkLst>
            <pc:docMk/>
            <pc:sldMk cId="0" sldId="260"/>
            <ac:spMk id="16" creationId="{00000000-0000-0000-0000-000000000000}"/>
          </ac:spMkLst>
        </pc:spChg>
      </pc:sldChg>
      <pc:sldChg chg="modSp mod">
        <pc:chgData name="chinonye" userId="866d2084ac12d9e5" providerId="LiveId" clId="{47D6E727-9C75-402B-9DC5-2180D8462D2F}" dt="2026-07-06T11:27:31.383" v="10" actId="20577"/>
        <pc:sldMkLst>
          <pc:docMk/>
          <pc:sldMk cId="0" sldId="262"/>
        </pc:sldMkLst>
        <pc:spChg chg="mod">
          <ac:chgData name="chinonye" userId="866d2084ac12d9e5" providerId="LiveId" clId="{47D6E727-9C75-402B-9DC5-2180D8462D2F}" dt="2026-07-06T11:27:31.383" v="10" actId="20577"/>
          <ac:spMkLst>
            <pc:docMk/>
            <pc:sldMk cId="0" sldId="262"/>
            <ac:spMk id="5" creationId="{00000000-0000-0000-0000-000000000000}"/>
          </ac:spMkLst>
        </pc:spChg>
      </pc:sldChg>
      <pc:sldChg chg="modSp mod">
        <pc:chgData name="chinonye" userId="866d2084ac12d9e5" providerId="LiveId" clId="{47D6E727-9C75-402B-9DC5-2180D8462D2F}" dt="2026-07-06T11:27:12.169" v="9" actId="20577"/>
        <pc:sldMkLst>
          <pc:docMk/>
          <pc:sldMk cId="0" sldId="263"/>
        </pc:sldMkLst>
        <pc:spChg chg="mod">
          <ac:chgData name="chinonye" userId="866d2084ac12d9e5" providerId="LiveId" clId="{47D6E727-9C75-402B-9DC5-2180D8462D2F}" dt="2026-07-06T11:27:12.169" v="9" actId="20577"/>
          <ac:spMkLst>
            <pc:docMk/>
            <pc:sldMk cId="0" sldId="263"/>
            <ac:spMk id="7" creationId="{00000000-0000-0000-0000-000000000000}"/>
          </ac:spMkLst>
        </pc:spChg>
      </pc:sldChg>
      <pc:sldChg chg="modSp mod">
        <pc:chgData name="chinonye" userId="866d2084ac12d9e5" providerId="LiveId" clId="{47D6E727-9C75-402B-9DC5-2180D8462D2F}" dt="2026-07-06T11:28:36.143" v="28" actId="20577"/>
        <pc:sldMkLst>
          <pc:docMk/>
          <pc:sldMk cId="0" sldId="270"/>
        </pc:sldMkLst>
        <pc:spChg chg="mod">
          <ac:chgData name="chinonye" userId="866d2084ac12d9e5" providerId="LiveId" clId="{47D6E727-9C75-402B-9DC5-2180D8462D2F}" dt="2026-07-06T11:28:36.143" v="28" actId="20577"/>
          <ac:spMkLst>
            <pc:docMk/>
            <pc:sldMk cId="0" sldId="270"/>
            <ac:spMk id="33" creationId="{00000000-0000-0000-0000-000000000000}"/>
          </ac:spMkLst>
        </pc:spChg>
      </pc:sldChg>
      <pc:sldChg chg="modSp mod">
        <pc:chgData name="chinonye" userId="866d2084ac12d9e5" providerId="LiveId" clId="{47D6E727-9C75-402B-9DC5-2180D8462D2F}" dt="2026-07-06T11:28:16.777" v="20" actId="20577"/>
        <pc:sldMkLst>
          <pc:docMk/>
          <pc:sldMk cId="0" sldId="271"/>
        </pc:sldMkLst>
        <pc:spChg chg="mod">
          <ac:chgData name="chinonye" userId="866d2084ac12d9e5" providerId="LiveId" clId="{47D6E727-9C75-402B-9DC5-2180D8462D2F}" dt="2026-07-06T11:27:58.922" v="12" actId="20577"/>
          <ac:spMkLst>
            <pc:docMk/>
            <pc:sldMk cId="0" sldId="271"/>
            <ac:spMk id="4" creationId="{00000000-0000-0000-0000-000000000000}"/>
          </ac:spMkLst>
        </pc:spChg>
        <pc:spChg chg="mod">
          <ac:chgData name="chinonye" userId="866d2084ac12d9e5" providerId="LiveId" clId="{47D6E727-9C75-402B-9DC5-2180D8462D2F}" dt="2026-07-06T11:28:16.777" v="20" actId="20577"/>
          <ac:spMkLst>
            <pc:docMk/>
            <pc:sldMk cId="0" sldId="271"/>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8657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869680" y="-2011680"/>
            <a:ext cx="5486400" cy="5486400"/>
          </a:xfrm>
          <a:prstGeom prst="ellipse">
            <a:avLst/>
          </a:prstGeom>
          <a:solidFill>
            <a:srgbClr val="16204A"/>
          </a:solidFill>
          <a:ln/>
        </p:spPr>
      </p:sp>
      <p:sp>
        <p:nvSpPr>
          <p:cNvPr id="3" name="Shape 1"/>
          <p:cNvSpPr/>
          <p:nvPr/>
        </p:nvSpPr>
        <p:spPr>
          <a:xfrm>
            <a:off x="-2194560" y="4206240"/>
            <a:ext cx="4572000" cy="4572000"/>
          </a:xfrm>
          <a:prstGeom prst="ellipse">
            <a:avLst/>
          </a:prstGeom>
          <a:solidFill>
            <a:srgbClr val="16204A"/>
          </a:solidFill>
          <a:ln/>
        </p:spPr>
      </p:sp>
      <p:sp>
        <p:nvSpPr>
          <p:cNvPr id="4" name="Text 2"/>
          <p:cNvSpPr/>
          <p:nvPr/>
        </p:nvSpPr>
        <p:spPr>
          <a:xfrm>
            <a:off x="822960" y="1965960"/>
            <a:ext cx="8229600" cy="365760"/>
          </a:xfrm>
          <a:prstGeom prst="rect">
            <a:avLst/>
          </a:prstGeom>
          <a:noFill/>
          <a:ln/>
        </p:spPr>
        <p:txBody>
          <a:bodyPr wrap="square"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HUMAN RESOURCES ANALYSIS</a:t>
            </a:r>
            <a:endParaRPr lang="en-US" sz="1400" dirty="0"/>
          </a:p>
        </p:txBody>
      </p:sp>
      <p:sp>
        <p:nvSpPr>
          <p:cNvPr id="5" name="Text 3"/>
          <p:cNvSpPr/>
          <p:nvPr/>
        </p:nvSpPr>
        <p:spPr>
          <a:xfrm>
            <a:off x="822960" y="2331720"/>
            <a:ext cx="9875520" cy="1737360"/>
          </a:xfrm>
          <a:prstGeom prst="rect">
            <a:avLst/>
          </a:prstGeom>
          <a:noFill/>
          <a:ln/>
        </p:spPr>
        <p:txBody>
          <a:bodyPr wrap="square" rtlCol="0" anchor="ctr"/>
          <a:lstStyle/>
          <a:p>
            <a:pPr marL="0" indent="0" algn="ctr">
              <a:lnSpc>
                <a:spcPct val="105000"/>
              </a:lnSpc>
              <a:buNone/>
            </a:pPr>
            <a:r>
              <a:rPr lang="en-US" sz="4000" b="1" dirty="0">
                <a:solidFill>
                  <a:srgbClr val="FFFFFF"/>
                </a:solidFill>
                <a:latin typeface="Cambria" pitchFamily="34" charset="0"/>
                <a:ea typeface="Cambria" pitchFamily="34" charset="-122"/>
                <a:cs typeface="Cambria" pitchFamily="34" charset="-120"/>
              </a:rPr>
              <a:t>Workforce Retention,</a:t>
            </a:r>
            <a:endParaRPr lang="en-US" sz="4000" dirty="0"/>
          </a:p>
          <a:p>
            <a:pPr marL="0" indent="0" algn="ctr">
              <a:lnSpc>
                <a:spcPct val="105000"/>
              </a:lnSpc>
              <a:buNone/>
            </a:pPr>
            <a:r>
              <a:rPr lang="en-US" sz="4000" b="1" dirty="0">
                <a:solidFill>
                  <a:srgbClr val="FFFFFF"/>
                </a:solidFill>
                <a:latin typeface="Cambria" pitchFamily="34" charset="0"/>
                <a:ea typeface="Cambria" pitchFamily="34" charset="-122"/>
                <a:cs typeface="Cambria" pitchFamily="34" charset="-120"/>
              </a:rPr>
              <a:t>Performance &amp; Turnover Findings</a:t>
            </a:r>
            <a:endParaRPr lang="en-US" sz="4000" dirty="0"/>
          </a:p>
        </p:txBody>
      </p:sp>
      <p:sp>
        <p:nvSpPr>
          <p:cNvPr id="6" name="Text 4"/>
          <p:cNvSpPr/>
          <p:nvPr/>
        </p:nvSpPr>
        <p:spPr>
          <a:xfrm>
            <a:off x="822960" y="4160520"/>
            <a:ext cx="8229600" cy="45720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311 employees  |  2006–2018  |  Power BI  analysis</a:t>
            </a:r>
            <a:endParaRPr lang="en-US" sz="1600" dirty="0"/>
          </a:p>
        </p:txBody>
      </p:sp>
      <p:sp>
        <p:nvSpPr>
          <p:cNvPr id="7" name="Shape 5"/>
          <p:cNvSpPr/>
          <p:nvPr/>
        </p:nvSpPr>
        <p:spPr>
          <a:xfrm>
            <a:off x="822960" y="4892040"/>
            <a:ext cx="2926080" cy="0"/>
          </a:xfrm>
          <a:prstGeom prst="line">
            <a:avLst/>
          </a:prstGeom>
          <a:noFill/>
          <a:ln w="25400">
            <a:solidFill>
              <a:srgbClr val="C9A227"/>
            </a:solidFill>
            <a:prstDash val="solid"/>
          </a:ln>
        </p:spPr>
      </p:sp>
      <p:sp>
        <p:nvSpPr>
          <p:cNvPr id="8" name="Text 6"/>
          <p:cNvSpPr/>
          <p:nvPr/>
        </p:nvSpPr>
        <p:spPr>
          <a:xfrm>
            <a:off x="822960" y="5029200"/>
            <a:ext cx="8229600" cy="365760"/>
          </a:xfrm>
          <a:prstGeom prst="rect">
            <a:avLst/>
          </a:prstGeom>
          <a:noFill/>
          <a:ln/>
        </p:spPr>
        <p:txBody>
          <a:bodyPr wrap="square" rtlCol="0" anchor="ctr"/>
          <a:lstStyle/>
          <a:p>
            <a:pPr marL="0" indent="0">
              <a:buNone/>
            </a:pPr>
            <a:r>
              <a:rPr lang="en-US" sz="1400" dirty="0">
                <a:solidFill>
                  <a:srgbClr val="AEB9D6"/>
                </a:solidFill>
                <a:latin typeface="Calibri" pitchFamily="34" charset="0"/>
                <a:ea typeface="Calibri" pitchFamily="34" charset="-122"/>
                <a:cs typeface="Calibri" pitchFamily="34" charset="-120"/>
              </a:rPr>
              <a:t>Prepared for Human Resources Management  •  July 2026</a:t>
            </a:r>
          </a:p>
          <a:p>
            <a:pPr marL="0" indent="0">
              <a:buNone/>
            </a:pPr>
            <a:r>
              <a:rPr lang="en-US" sz="1400" dirty="0">
                <a:solidFill>
                  <a:srgbClr val="AEB9D6"/>
                </a:solidFill>
                <a:latin typeface="Calibri" pitchFamily="34" charset="0"/>
                <a:ea typeface="Calibri" pitchFamily="34" charset="-122"/>
                <a:cs typeface="Calibri" pitchFamily="34" charset="-120"/>
              </a:rPr>
              <a:t>BY: Onwuka Augustina Chinonye.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THE BUSINESS PROBLEM</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We collect HR data but can't yet answer why people leave</a:t>
            </a:r>
            <a:endParaRPr lang="en-US" sz="3000" dirty="0"/>
          </a:p>
        </p:txBody>
      </p:sp>
      <p:sp>
        <p:nvSpPr>
          <p:cNvPr id="4" name="Shape 2"/>
          <p:cNvSpPr/>
          <p:nvPr/>
        </p:nvSpPr>
        <p:spPr>
          <a:xfrm>
            <a:off x="548640" y="1874520"/>
            <a:ext cx="11064240" cy="713232"/>
          </a:xfrm>
          <a:prstGeom prst="roundRect">
            <a:avLst>
              <a:gd name="adj" fmla="val 10256"/>
            </a:avLst>
          </a:prstGeom>
          <a:solidFill>
            <a:srgbClr val="FFFFFF"/>
          </a:solidFill>
          <a:ln/>
          <a:effectLst>
            <a:outerShdw blurRad="101600" dist="38100" dir="5400000" algn="bl" rotWithShape="0">
              <a:srgbClr val="000000">
                <a:alpha val="12000"/>
              </a:srgbClr>
            </a:outerShdw>
          </a:effectLst>
        </p:spPr>
      </p:sp>
      <p:sp>
        <p:nvSpPr>
          <p:cNvPr id="5" name="Shape 3"/>
          <p:cNvSpPr/>
          <p:nvPr/>
        </p:nvSpPr>
        <p:spPr>
          <a:xfrm>
            <a:off x="777240" y="2048256"/>
            <a:ext cx="365760" cy="365760"/>
          </a:xfrm>
          <a:prstGeom prst="ellipse">
            <a:avLst/>
          </a:prstGeom>
          <a:solidFill>
            <a:srgbClr val="1E2761"/>
          </a:solidFill>
          <a:ln/>
        </p:spPr>
      </p:sp>
      <p:sp>
        <p:nvSpPr>
          <p:cNvPr id="6" name="Text 4"/>
          <p:cNvSpPr/>
          <p:nvPr/>
        </p:nvSpPr>
        <p:spPr>
          <a:xfrm>
            <a:off x="777240" y="2048256"/>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25880" y="1874520"/>
            <a:ext cx="10058400" cy="713232"/>
          </a:xfrm>
          <a:prstGeom prst="rect">
            <a:avLst/>
          </a:prstGeom>
          <a:noFill/>
          <a:ln/>
        </p:spPr>
        <p:txBody>
          <a:bodyPr wrap="square" rtlCol="0" anchor="ctr"/>
          <a:lstStyle/>
          <a:p>
            <a:pPr marL="0" indent="0">
              <a:buNone/>
            </a:pPr>
            <a:r>
              <a:rPr lang="en-US" sz="1500" dirty="0">
                <a:solidFill>
                  <a:srgbClr val="1B2440"/>
                </a:solidFill>
                <a:latin typeface="Calibri" pitchFamily="34" charset="0"/>
                <a:ea typeface="Calibri" pitchFamily="34" charset="-122"/>
                <a:cs typeface="Calibri" pitchFamily="34" charset="-120"/>
              </a:rPr>
              <a:t>Why employees leave the organization</a:t>
            </a:r>
            <a:endParaRPr lang="en-US" sz="1500" dirty="0"/>
          </a:p>
        </p:txBody>
      </p:sp>
      <p:sp>
        <p:nvSpPr>
          <p:cNvPr id="8" name="Shape 6"/>
          <p:cNvSpPr/>
          <p:nvPr/>
        </p:nvSpPr>
        <p:spPr>
          <a:xfrm>
            <a:off x="548640" y="2715768"/>
            <a:ext cx="11064240" cy="713232"/>
          </a:xfrm>
          <a:prstGeom prst="roundRect">
            <a:avLst>
              <a:gd name="adj" fmla="val 10256"/>
            </a:avLst>
          </a:prstGeom>
          <a:solidFill>
            <a:srgbClr val="FFFFFF"/>
          </a:solidFill>
          <a:ln/>
          <a:effectLst>
            <a:outerShdw blurRad="101600" dist="38100" dir="5400000" algn="bl" rotWithShape="0">
              <a:srgbClr val="000000">
                <a:alpha val="12000"/>
              </a:srgbClr>
            </a:outerShdw>
          </a:effectLst>
        </p:spPr>
      </p:sp>
      <p:sp>
        <p:nvSpPr>
          <p:cNvPr id="9" name="Shape 7"/>
          <p:cNvSpPr/>
          <p:nvPr/>
        </p:nvSpPr>
        <p:spPr>
          <a:xfrm>
            <a:off x="777240" y="2889504"/>
            <a:ext cx="365760" cy="365760"/>
          </a:xfrm>
          <a:prstGeom prst="ellipse">
            <a:avLst/>
          </a:prstGeom>
          <a:solidFill>
            <a:srgbClr val="1E2761"/>
          </a:solidFill>
          <a:ln/>
        </p:spPr>
      </p:sp>
      <p:sp>
        <p:nvSpPr>
          <p:cNvPr id="10" name="Text 8"/>
          <p:cNvSpPr/>
          <p:nvPr/>
        </p:nvSpPr>
        <p:spPr>
          <a:xfrm>
            <a:off x="777240" y="2889504"/>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325880" y="2715768"/>
            <a:ext cx="10058400" cy="713232"/>
          </a:xfrm>
          <a:prstGeom prst="rect">
            <a:avLst/>
          </a:prstGeom>
          <a:noFill/>
          <a:ln/>
        </p:spPr>
        <p:txBody>
          <a:bodyPr wrap="square" rtlCol="0" anchor="ctr"/>
          <a:lstStyle/>
          <a:p>
            <a:pPr marL="0" indent="0">
              <a:buNone/>
            </a:pPr>
            <a:r>
              <a:rPr lang="en-US" sz="1500" dirty="0">
                <a:solidFill>
                  <a:srgbClr val="1B2440"/>
                </a:solidFill>
                <a:latin typeface="Calibri" pitchFamily="34" charset="0"/>
                <a:ea typeface="Calibri" pitchFamily="34" charset="-122"/>
                <a:cs typeface="Calibri" pitchFamily="34" charset="-120"/>
              </a:rPr>
              <a:t>Which departments experience the highest turnover</a:t>
            </a:r>
            <a:endParaRPr lang="en-US" sz="1500" dirty="0"/>
          </a:p>
        </p:txBody>
      </p:sp>
      <p:sp>
        <p:nvSpPr>
          <p:cNvPr id="12" name="Shape 10"/>
          <p:cNvSpPr/>
          <p:nvPr/>
        </p:nvSpPr>
        <p:spPr>
          <a:xfrm>
            <a:off x="548640" y="3557016"/>
            <a:ext cx="11064240" cy="713232"/>
          </a:xfrm>
          <a:prstGeom prst="roundRect">
            <a:avLst>
              <a:gd name="adj" fmla="val 10256"/>
            </a:avLst>
          </a:prstGeom>
          <a:solidFill>
            <a:srgbClr val="FFFFFF"/>
          </a:solidFill>
          <a:ln/>
          <a:effectLst>
            <a:outerShdw blurRad="101600" dist="38100" dir="5400000" algn="bl" rotWithShape="0">
              <a:srgbClr val="000000">
                <a:alpha val="12000"/>
              </a:srgbClr>
            </a:outerShdw>
          </a:effectLst>
        </p:spPr>
      </p:sp>
      <p:sp>
        <p:nvSpPr>
          <p:cNvPr id="13" name="Shape 11"/>
          <p:cNvSpPr/>
          <p:nvPr/>
        </p:nvSpPr>
        <p:spPr>
          <a:xfrm>
            <a:off x="777240" y="3730752"/>
            <a:ext cx="365760" cy="365760"/>
          </a:xfrm>
          <a:prstGeom prst="ellipse">
            <a:avLst/>
          </a:prstGeom>
          <a:solidFill>
            <a:srgbClr val="1E2761"/>
          </a:solidFill>
          <a:ln/>
        </p:spPr>
      </p:sp>
      <p:sp>
        <p:nvSpPr>
          <p:cNvPr id="14" name="Text 12"/>
          <p:cNvSpPr/>
          <p:nvPr/>
        </p:nvSpPr>
        <p:spPr>
          <a:xfrm>
            <a:off x="777240" y="3730752"/>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325880" y="3557016"/>
            <a:ext cx="10058400" cy="713232"/>
          </a:xfrm>
          <a:prstGeom prst="rect">
            <a:avLst/>
          </a:prstGeom>
          <a:noFill/>
          <a:ln/>
        </p:spPr>
        <p:txBody>
          <a:bodyPr wrap="square" rtlCol="0" anchor="ctr"/>
          <a:lstStyle/>
          <a:p>
            <a:pPr marL="0" indent="0">
              <a:buNone/>
            </a:pPr>
            <a:r>
              <a:rPr lang="en-US" sz="1500" dirty="0">
                <a:solidFill>
                  <a:srgbClr val="1B2440"/>
                </a:solidFill>
                <a:latin typeface="Calibri" pitchFamily="34" charset="0"/>
                <a:ea typeface="Calibri" pitchFamily="34" charset="-122"/>
                <a:cs typeface="Calibri" pitchFamily="34" charset="-120"/>
              </a:rPr>
              <a:t>Whether compensation and engagement levels are competitive</a:t>
            </a:r>
            <a:endParaRPr lang="en-US" sz="1500" dirty="0"/>
          </a:p>
        </p:txBody>
      </p:sp>
      <p:sp>
        <p:nvSpPr>
          <p:cNvPr id="16" name="Shape 14"/>
          <p:cNvSpPr/>
          <p:nvPr/>
        </p:nvSpPr>
        <p:spPr>
          <a:xfrm>
            <a:off x="548640" y="4398264"/>
            <a:ext cx="11064240" cy="713232"/>
          </a:xfrm>
          <a:prstGeom prst="roundRect">
            <a:avLst>
              <a:gd name="adj" fmla="val 10256"/>
            </a:avLst>
          </a:prstGeom>
          <a:solidFill>
            <a:srgbClr val="FFFFFF"/>
          </a:solidFill>
          <a:ln/>
          <a:effectLst>
            <a:outerShdw blurRad="101600" dist="38100" dir="5400000" algn="bl" rotWithShape="0">
              <a:srgbClr val="000000">
                <a:alpha val="12000"/>
              </a:srgbClr>
            </a:outerShdw>
          </a:effectLst>
        </p:spPr>
      </p:sp>
      <p:sp>
        <p:nvSpPr>
          <p:cNvPr id="17" name="Shape 15"/>
          <p:cNvSpPr/>
          <p:nvPr/>
        </p:nvSpPr>
        <p:spPr>
          <a:xfrm>
            <a:off x="777240" y="4572000"/>
            <a:ext cx="365760" cy="365760"/>
          </a:xfrm>
          <a:prstGeom prst="ellipse">
            <a:avLst/>
          </a:prstGeom>
          <a:solidFill>
            <a:srgbClr val="1E2761"/>
          </a:solidFill>
          <a:ln/>
        </p:spPr>
      </p:sp>
      <p:sp>
        <p:nvSpPr>
          <p:cNvPr id="18" name="Text 16"/>
          <p:cNvSpPr/>
          <p:nvPr/>
        </p:nvSpPr>
        <p:spPr>
          <a:xfrm>
            <a:off x="777240" y="45720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325880" y="4398264"/>
            <a:ext cx="10058400" cy="713232"/>
          </a:xfrm>
          <a:prstGeom prst="rect">
            <a:avLst/>
          </a:prstGeom>
          <a:noFill/>
          <a:ln/>
        </p:spPr>
        <p:txBody>
          <a:bodyPr wrap="square" rtlCol="0" anchor="ctr"/>
          <a:lstStyle/>
          <a:p>
            <a:pPr marL="0" indent="0">
              <a:buNone/>
            </a:pPr>
            <a:r>
              <a:rPr lang="en-US" sz="1500" dirty="0">
                <a:solidFill>
                  <a:srgbClr val="1B2440"/>
                </a:solidFill>
                <a:latin typeface="Calibri" pitchFamily="34" charset="0"/>
                <a:ea typeface="Calibri" pitchFamily="34" charset="-122"/>
                <a:cs typeface="Calibri" pitchFamily="34" charset="-120"/>
              </a:rPr>
              <a:t>How recruitment sources affect employee quality and retention</a:t>
            </a:r>
            <a:endParaRPr lang="en-US" sz="1500" dirty="0"/>
          </a:p>
        </p:txBody>
      </p:sp>
      <p:sp>
        <p:nvSpPr>
          <p:cNvPr id="20" name="Shape 18"/>
          <p:cNvSpPr/>
          <p:nvPr/>
        </p:nvSpPr>
        <p:spPr>
          <a:xfrm>
            <a:off x="548640" y="5239512"/>
            <a:ext cx="11064240" cy="713232"/>
          </a:xfrm>
          <a:prstGeom prst="roundRect">
            <a:avLst>
              <a:gd name="adj" fmla="val 10256"/>
            </a:avLst>
          </a:prstGeom>
          <a:solidFill>
            <a:srgbClr val="FFFFFF"/>
          </a:solidFill>
          <a:ln/>
          <a:effectLst>
            <a:outerShdw blurRad="101600" dist="38100" dir="5400000" algn="bl" rotWithShape="0">
              <a:srgbClr val="000000">
                <a:alpha val="12000"/>
              </a:srgbClr>
            </a:outerShdw>
          </a:effectLst>
        </p:spPr>
      </p:sp>
      <p:sp>
        <p:nvSpPr>
          <p:cNvPr id="21" name="Shape 19"/>
          <p:cNvSpPr/>
          <p:nvPr/>
        </p:nvSpPr>
        <p:spPr>
          <a:xfrm>
            <a:off x="777240" y="5413248"/>
            <a:ext cx="365760" cy="365760"/>
          </a:xfrm>
          <a:prstGeom prst="ellipse">
            <a:avLst/>
          </a:prstGeom>
          <a:solidFill>
            <a:srgbClr val="1E2761"/>
          </a:solidFill>
          <a:ln/>
        </p:spPr>
      </p:sp>
      <p:sp>
        <p:nvSpPr>
          <p:cNvPr id="22" name="Text 20"/>
          <p:cNvSpPr/>
          <p:nvPr/>
        </p:nvSpPr>
        <p:spPr>
          <a:xfrm>
            <a:off x="777240" y="5413248"/>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1325880" y="5239512"/>
            <a:ext cx="10058400" cy="713232"/>
          </a:xfrm>
          <a:prstGeom prst="rect">
            <a:avLst/>
          </a:prstGeom>
          <a:noFill/>
          <a:ln/>
        </p:spPr>
        <p:txBody>
          <a:bodyPr wrap="square" rtlCol="0" anchor="ctr"/>
          <a:lstStyle/>
          <a:p>
            <a:pPr marL="0" indent="0">
              <a:buNone/>
            </a:pPr>
            <a:r>
              <a:rPr lang="en-US" sz="1500" dirty="0">
                <a:solidFill>
                  <a:srgbClr val="1B2440"/>
                </a:solidFill>
                <a:latin typeface="Calibri" pitchFamily="34" charset="0"/>
                <a:ea typeface="Calibri" pitchFamily="34" charset="-122"/>
                <a:cs typeface="Calibri" pitchFamily="34" charset="-120"/>
              </a:rPr>
              <a:t>Which workforce trends require immediate managerial attention</a:t>
            </a:r>
            <a:endParaRPr lang="en-US" sz="1500" dirty="0"/>
          </a:p>
        </p:txBody>
      </p:sp>
      <p:sp>
        <p:nvSpPr>
          <p:cNvPr id="24" name="Text 22"/>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64708A"/>
                </a:solidFill>
                <a:latin typeface="Calibri" pitchFamily="34" charset="0"/>
                <a:ea typeface="Calibri" pitchFamily="34" charset="-122"/>
                <a:cs typeface="Calibri" pitchFamily="34" charset="-120"/>
              </a:rPr>
              <a:t>HR Workforce Analytics</a:t>
            </a:r>
            <a:endParaRPr lang="en-US" sz="900" dirty="0"/>
          </a:p>
        </p:txBody>
      </p:sp>
      <p:sp>
        <p:nvSpPr>
          <p:cNvPr id="25" name="Text 2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4708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AIM &amp; OBJECTIVES</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Turning HR data into decisions HR can act on</a:t>
            </a:r>
            <a:endParaRPr lang="en-US" sz="3000" dirty="0"/>
          </a:p>
        </p:txBody>
      </p:sp>
      <p:sp>
        <p:nvSpPr>
          <p:cNvPr id="4" name="Shape 2"/>
          <p:cNvSpPr/>
          <p:nvPr/>
        </p:nvSpPr>
        <p:spPr>
          <a:xfrm>
            <a:off x="548640" y="1783080"/>
            <a:ext cx="11064240" cy="914400"/>
          </a:xfrm>
          <a:prstGeom prst="roundRect">
            <a:avLst>
              <a:gd name="adj" fmla="val 8000"/>
            </a:avLst>
          </a:prstGeom>
          <a:solidFill>
            <a:srgbClr val="1E2761"/>
          </a:solidFill>
          <a:ln/>
          <a:effectLst>
            <a:outerShdw blurRad="101600" dist="38100" dir="5400000" algn="bl" rotWithShape="0">
              <a:srgbClr val="000000">
                <a:alpha val="12000"/>
              </a:srgbClr>
            </a:outerShdw>
          </a:effectLst>
        </p:spPr>
      </p:sp>
      <p:sp>
        <p:nvSpPr>
          <p:cNvPr id="5" name="Text 3"/>
          <p:cNvSpPr/>
          <p:nvPr/>
        </p:nvSpPr>
        <p:spPr>
          <a:xfrm>
            <a:off x="868680" y="1783080"/>
            <a:ext cx="10424160" cy="914400"/>
          </a:xfrm>
          <a:prstGeom prst="rect">
            <a:avLst/>
          </a:prstGeom>
          <a:noFill/>
          <a:ln/>
        </p:spPr>
        <p:txBody>
          <a:bodyPr wrap="square" rtlCol="0" anchor="ctr"/>
          <a:lstStyle/>
          <a:p>
            <a:pPr marL="0" indent="0">
              <a:buNone/>
            </a:pPr>
            <a:r>
              <a:rPr lang="en-US" sz="1450" i="1" dirty="0">
                <a:solidFill>
                  <a:srgbClr val="FFFFFF"/>
                </a:solidFill>
                <a:latin typeface="Calibri" pitchFamily="34" charset="0"/>
                <a:ea typeface="Calibri" pitchFamily="34" charset="-122"/>
                <a:cs typeface="Calibri" pitchFamily="34" charset="-120"/>
              </a:rPr>
              <a:t>Analyze workforce trends, performance, and retention patterns to generate actionable insight for talent management, employee satisfaction, and organizational performance.</a:t>
            </a:r>
            <a:endParaRPr lang="en-US" sz="1450" dirty="0"/>
          </a:p>
        </p:txBody>
      </p:sp>
      <p:sp>
        <p:nvSpPr>
          <p:cNvPr id="6" name="Shape 4"/>
          <p:cNvSpPr/>
          <p:nvPr/>
        </p:nvSpPr>
        <p:spPr>
          <a:xfrm>
            <a:off x="548640" y="2971800"/>
            <a:ext cx="2546604" cy="1417320"/>
          </a:xfrm>
          <a:prstGeom prst="roundRect">
            <a:avLst>
              <a:gd name="adj" fmla="val 5161"/>
            </a:avLst>
          </a:prstGeom>
          <a:solidFill>
            <a:srgbClr val="FFFFFF"/>
          </a:solidFill>
          <a:ln/>
          <a:effectLst>
            <a:outerShdw blurRad="101600" dist="38100" dir="5400000" algn="bl" rotWithShape="0">
              <a:srgbClr val="000000">
                <a:alpha val="12000"/>
              </a:srgbClr>
            </a:outerShdw>
          </a:effectLst>
        </p:spPr>
      </p:sp>
      <p:sp>
        <p:nvSpPr>
          <p:cNvPr id="7" name="Text 5"/>
          <p:cNvSpPr/>
          <p:nvPr/>
        </p:nvSpPr>
        <p:spPr>
          <a:xfrm>
            <a:off x="713232" y="3081528"/>
            <a:ext cx="2217420" cy="365760"/>
          </a:xfrm>
          <a:prstGeom prst="rect">
            <a:avLst/>
          </a:prstGeom>
          <a:noFill/>
          <a:ln/>
        </p:spPr>
        <p:txBody>
          <a:bodyPr wrap="square" rtlCol="0" anchor="ctr"/>
          <a:lstStyle/>
          <a:p>
            <a:pPr marL="0" indent="0">
              <a:buNone/>
            </a:pPr>
            <a:r>
              <a:rPr lang="en-US" sz="1800" b="1" dirty="0">
                <a:solidFill>
                  <a:srgbClr val="C9A227"/>
                </a:solidFill>
                <a:latin typeface="Cambria" pitchFamily="34" charset="0"/>
                <a:ea typeface="Cambria" pitchFamily="34" charset="-122"/>
                <a:cs typeface="Cambria" pitchFamily="34" charset="-120"/>
              </a:rPr>
              <a:t>01</a:t>
            </a:r>
            <a:endParaRPr lang="en-US" sz="1800" dirty="0"/>
          </a:p>
        </p:txBody>
      </p:sp>
      <p:sp>
        <p:nvSpPr>
          <p:cNvPr id="8" name="Text 6"/>
          <p:cNvSpPr/>
          <p:nvPr/>
        </p:nvSpPr>
        <p:spPr>
          <a:xfrm>
            <a:off x="713232" y="3429000"/>
            <a:ext cx="2217420" cy="850392"/>
          </a:xfrm>
          <a:prstGeom prst="rect">
            <a:avLst/>
          </a:prstGeom>
          <a:noFill/>
          <a:ln/>
        </p:spPr>
        <p:txBody>
          <a:bodyPr wrap="square" rtlCol="0" anchor="t"/>
          <a:lstStyle/>
          <a:p>
            <a:pPr marL="0" indent="0">
              <a:buNone/>
            </a:pPr>
            <a:r>
              <a:rPr lang="en-US" sz="1200" dirty="0">
                <a:solidFill>
                  <a:srgbClr val="1B2440"/>
                </a:solidFill>
                <a:latin typeface="Calibri" pitchFamily="34" charset="0"/>
                <a:ea typeface="Calibri" pitchFamily="34" charset="-122"/>
                <a:cs typeface="Calibri" pitchFamily="34" charset="-120"/>
              </a:rPr>
              <a:t>Clean &amp; prepare employee records</a:t>
            </a:r>
            <a:endParaRPr lang="en-US" sz="1200" dirty="0"/>
          </a:p>
        </p:txBody>
      </p:sp>
      <p:sp>
        <p:nvSpPr>
          <p:cNvPr id="9" name="Shape 7"/>
          <p:cNvSpPr/>
          <p:nvPr/>
        </p:nvSpPr>
        <p:spPr>
          <a:xfrm>
            <a:off x="3387852" y="2971800"/>
            <a:ext cx="2546604" cy="1417320"/>
          </a:xfrm>
          <a:prstGeom prst="roundRect">
            <a:avLst>
              <a:gd name="adj" fmla="val 5161"/>
            </a:avLst>
          </a:prstGeom>
          <a:solidFill>
            <a:srgbClr val="FFFFFF"/>
          </a:solidFill>
          <a:ln/>
          <a:effectLst>
            <a:outerShdw blurRad="101600" dist="38100" dir="5400000" algn="bl" rotWithShape="0">
              <a:srgbClr val="000000">
                <a:alpha val="12000"/>
              </a:srgbClr>
            </a:outerShdw>
          </a:effectLst>
        </p:spPr>
      </p:sp>
      <p:sp>
        <p:nvSpPr>
          <p:cNvPr id="10" name="Text 8"/>
          <p:cNvSpPr/>
          <p:nvPr/>
        </p:nvSpPr>
        <p:spPr>
          <a:xfrm>
            <a:off x="3552444" y="3081528"/>
            <a:ext cx="2217420" cy="365760"/>
          </a:xfrm>
          <a:prstGeom prst="rect">
            <a:avLst/>
          </a:prstGeom>
          <a:noFill/>
          <a:ln/>
        </p:spPr>
        <p:txBody>
          <a:bodyPr wrap="square" rtlCol="0" anchor="ctr"/>
          <a:lstStyle/>
          <a:p>
            <a:pPr marL="0" indent="0">
              <a:buNone/>
            </a:pPr>
            <a:r>
              <a:rPr lang="en-US" sz="1800" b="1" dirty="0">
                <a:solidFill>
                  <a:srgbClr val="C9A227"/>
                </a:solidFill>
                <a:latin typeface="Cambria" pitchFamily="34" charset="0"/>
                <a:ea typeface="Cambria" pitchFamily="34" charset="-122"/>
                <a:cs typeface="Cambria" pitchFamily="34" charset="-120"/>
              </a:rPr>
              <a:t>02</a:t>
            </a:r>
            <a:endParaRPr lang="en-US" sz="1800" dirty="0"/>
          </a:p>
        </p:txBody>
      </p:sp>
      <p:sp>
        <p:nvSpPr>
          <p:cNvPr id="11" name="Text 9"/>
          <p:cNvSpPr/>
          <p:nvPr/>
        </p:nvSpPr>
        <p:spPr>
          <a:xfrm>
            <a:off x="3552444" y="3429000"/>
            <a:ext cx="2217420" cy="850392"/>
          </a:xfrm>
          <a:prstGeom prst="rect">
            <a:avLst/>
          </a:prstGeom>
          <a:noFill/>
          <a:ln/>
        </p:spPr>
        <p:txBody>
          <a:bodyPr wrap="square" rtlCol="0" anchor="t"/>
          <a:lstStyle/>
          <a:p>
            <a:pPr marL="0" indent="0">
              <a:buNone/>
            </a:pPr>
            <a:r>
              <a:rPr lang="en-US" sz="1200" dirty="0">
                <a:solidFill>
                  <a:srgbClr val="1B2440"/>
                </a:solidFill>
                <a:latin typeface="Calibri" pitchFamily="34" charset="0"/>
                <a:ea typeface="Calibri" pitchFamily="34" charset="-122"/>
                <a:cs typeface="Calibri" pitchFamily="34" charset="-120"/>
              </a:rPr>
              <a:t>Analyze workforce demographics</a:t>
            </a:r>
            <a:endParaRPr lang="en-US" sz="1200" dirty="0"/>
          </a:p>
        </p:txBody>
      </p:sp>
      <p:sp>
        <p:nvSpPr>
          <p:cNvPr id="12" name="Shape 10"/>
          <p:cNvSpPr/>
          <p:nvPr/>
        </p:nvSpPr>
        <p:spPr>
          <a:xfrm>
            <a:off x="6227064" y="2971800"/>
            <a:ext cx="2546604" cy="1417320"/>
          </a:xfrm>
          <a:prstGeom prst="roundRect">
            <a:avLst>
              <a:gd name="adj" fmla="val 5161"/>
            </a:avLst>
          </a:prstGeom>
          <a:solidFill>
            <a:srgbClr val="FFFFFF"/>
          </a:solidFill>
          <a:ln/>
          <a:effectLst>
            <a:outerShdw blurRad="101600" dist="38100" dir="5400000" algn="bl" rotWithShape="0">
              <a:srgbClr val="000000">
                <a:alpha val="12000"/>
              </a:srgbClr>
            </a:outerShdw>
          </a:effectLst>
        </p:spPr>
      </p:sp>
      <p:sp>
        <p:nvSpPr>
          <p:cNvPr id="13" name="Text 11"/>
          <p:cNvSpPr/>
          <p:nvPr/>
        </p:nvSpPr>
        <p:spPr>
          <a:xfrm>
            <a:off x="6391656" y="3081528"/>
            <a:ext cx="2217420" cy="365760"/>
          </a:xfrm>
          <a:prstGeom prst="rect">
            <a:avLst/>
          </a:prstGeom>
          <a:noFill/>
          <a:ln/>
        </p:spPr>
        <p:txBody>
          <a:bodyPr wrap="square" rtlCol="0" anchor="ctr"/>
          <a:lstStyle/>
          <a:p>
            <a:pPr marL="0" indent="0">
              <a:buNone/>
            </a:pPr>
            <a:r>
              <a:rPr lang="en-US" sz="1800" b="1" dirty="0">
                <a:solidFill>
                  <a:srgbClr val="C9A227"/>
                </a:solidFill>
                <a:latin typeface="Cambria" pitchFamily="34" charset="0"/>
                <a:ea typeface="Cambria" pitchFamily="34" charset="-122"/>
                <a:cs typeface="Cambria" pitchFamily="34" charset="-120"/>
              </a:rPr>
              <a:t>03</a:t>
            </a:r>
            <a:endParaRPr lang="en-US" sz="1800" dirty="0"/>
          </a:p>
        </p:txBody>
      </p:sp>
      <p:sp>
        <p:nvSpPr>
          <p:cNvPr id="14" name="Text 12"/>
          <p:cNvSpPr/>
          <p:nvPr/>
        </p:nvSpPr>
        <p:spPr>
          <a:xfrm>
            <a:off x="6391656" y="3429000"/>
            <a:ext cx="2217420" cy="850392"/>
          </a:xfrm>
          <a:prstGeom prst="rect">
            <a:avLst/>
          </a:prstGeom>
          <a:noFill/>
          <a:ln/>
        </p:spPr>
        <p:txBody>
          <a:bodyPr wrap="square" rtlCol="0" anchor="t"/>
          <a:lstStyle/>
          <a:p>
            <a:pPr marL="0" indent="0">
              <a:buNone/>
            </a:pPr>
            <a:r>
              <a:rPr lang="en-US" sz="1200" dirty="0">
                <a:solidFill>
                  <a:srgbClr val="1B2440"/>
                </a:solidFill>
                <a:latin typeface="Calibri" pitchFamily="34" charset="0"/>
                <a:ea typeface="Calibri" pitchFamily="34" charset="-122"/>
                <a:cs typeface="Calibri" pitchFamily="34" charset="-120"/>
              </a:rPr>
              <a:t>Evaluate retention &amp; turnover drivers</a:t>
            </a:r>
            <a:endParaRPr lang="en-US" sz="1200" dirty="0"/>
          </a:p>
        </p:txBody>
      </p:sp>
      <p:sp>
        <p:nvSpPr>
          <p:cNvPr id="15" name="Shape 13"/>
          <p:cNvSpPr/>
          <p:nvPr/>
        </p:nvSpPr>
        <p:spPr>
          <a:xfrm>
            <a:off x="9066276" y="2971800"/>
            <a:ext cx="2546604" cy="1417320"/>
          </a:xfrm>
          <a:prstGeom prst="roundRect">
            <a:avLst>
              <a:gd name="adj" fmla="val 5161"/>
            </a:avLst>
          </a:prstGeom>
          <a:solidFill>
            <a:srgbClr val="FFFFFF"/>
          </a:solidFill>
          <a:ln/>
          <a:effectLst>
            <a:outerShdw blurRad="101600" dist="38100" dir="5400000" algn="bl" rotWithShape="0">
              <a:srgbClr val="000000">
                <a:alpha val="12000"/>
              </a:srgbClr>
            </a:outerShdw>
          </a:effectLst>
        </p:spPr>
      </p:sp>
      <p:sp>
        <p:nvSpPr>
          <p:cNvPr id="16" name="Text 14"/>
          <p:cNvSpPr/>
          <p:nvPr/>
        </p:nvSpPr>
        <p:spPr>
          <a:xfrm>
            <a:off x="9230868" y="3081528"/>
            <a:ext cx="2217420" cy="365760"/>
          </a:xfrm>
          <a:prstGeom prst="rect">
            <a:avLst/>
          </a:prstGeom>
          <a:noFill/>
          <a:ln/>
        </p:spPr>
        <p:txBody>
          <a:bodyPr wrap="square" rtlCol="0" anchor="ctr"/>
          <a:lstStyle/>
          <a:p>
            <a:pPr marL="0" indent="0">
              <a:buNone/>
            </a:pPr>
            <a:r>
              <a:rPr lang="en-US" sz="1800" b="1" dirty="0">
                <a:solidFill>
                  <a:srgbClr val="C9A227"/>
                </a:solidFill>
                <a:latin typeface="Cambria" pitchFamily="34" charset="0"/>
                <a:ea typeface="Cambria" pitchFamily="34" charset="-122"/>
                <a:cs typeface="Cambria" pitchFamily="34" charset="-120"/>
              </a:rPr>
              <a:t>04</a:t>
            </a:r>
            <a:endParaRPr lang="en-US" sz="1800" dirty="0"/>
          </a:p>
        </p:txBody>
      </p:sp>
      <p:sp>
        <p:nvSpPr>
          <p:cNvPr id="17" name="Text 15"/>
          <p:cNvSpPr/>
          <p:nvPr/>
        </p:nvSpPr>
        <p:spPr>
          <a:xfrm>
            <a:off x="9230868" y="3429000"/>
            <a:ext cx="2217420" cy="850392"/>
          </a:xfrm>
          <a:prstGeom prst="rect">
            <a:avLst/>
          </a:prstGeom>
          <a:noFill/>
          <a:ln/>
        </p:spPr>
        <p:txBody>
          <a:bodyPr wrap="square" rtlCol="0" anchor="t"/>
          <a:lstStyle/>
          <a:p>
            <a:pPr marL="0" indent="0">
              <a:buNone/>
            </a:pPr>
            <a:r>
              <a:rPr lang="en-US" sz="1200" dirty="0">
                <a:solidFill>
                  <a:srgbClr val="1B2440"/>
                </a:solidFill>
                <a:latin typeface="Calibri" pitchFamily="34" charset="0"/>
                <a:ea typeface="Calibri" pitchFamily="34" charset="-122"/>
                <a:cs typeface="Calibri" pitchFamily="34" charset="-120"/>
              </a:rPr>
              <a:t>Assess performance across teams</a:t>
            </a:r>
            <a:endParaRPr lang="en-US" sz="1200" dirty="0"/>
          </a:p>
        </p:txBody>
      </p:sp>
      <p:sp>
        <p:nvSpPr>
          <p:cNvPr id="18" name="Shape 16"/>
          <p:cNvSpPr/>
          <p:nvPr/>
        </p:nvSpPr>
        <p:spPr>
          <a:xfrm>
            <a:off x="548640" y="4681728"/>
            <a:ext cx="2546604" cy="1417320"/>
          </a:xfrm>
          <a:prstGeom prst="roundRect">
            <a:avLst>
              <a:gd name="adj" fmla="val 5161"/>
            </a:avLst>
          </a:prstGeom>
          <a:solidFill>
            <a:srgbClr val="FFFFFF"/>
          </a:solidFill>
          <a:ln/>
          <a:effectLst>
            <a:outerShdw blurRad="101600" dist="38100" dir="5400000" algn="bl" rotWithShape="0">
              <a:srgbClr val="000000">
                <a:alpha val="12000"/>
              </a:srgbClr>
            </a:outerShdw>
          </a:effectLst>
        </p:spPr>
      </p:sp>
      <p:sp>
        <p:nvSpPr>
          <p:cNvPr id="19" name="Text 17"/>
          <p:cNvSpPr/>
          <p:nvPr/>
        </p:nvSpPr>
        <p:spPr>
          <a:xfrm>
            <a:off x="713232" y="4791456"/>
            <a:ext cx="2217420" cy="365760"/>
          </a:xfrm>
          <a:prstGeom prst="rect">
            <a:avLst/>
          </a:prstGeom>
          <a:noFill/>
          <a:ln/>
        </p:spPr>
        <p:txBody>
          <a:bodyPr wrap="square" rtlCol="0" anchor="ctr"/>
          <a:lstStyle/>
          <a:p>
            <a:pPr marL="0" indent="0">
              <a:buNone/>
            </a:pPr>
            <a:r>
              <a:rPr lang="en-US" sz="1800" b="1" dirty="0">
                <a:solidFill>
                  <a:srgbClr val="C9A227"/>
                </a:solidFill>
                <a:latin typeface="Cambria" pitchFamily="34" charset="0"/>
                <a:ea typeface="Cambria" pitchFamily="34" charset="-122"/>
                <a:cs typeface="Cambria" pitchFamily="34" charset="-120"/>
              </a:rPr>
              <a:t>05</a:t>
            </a:r>
            <a:endParaRPr lang="en-US" sz="1800" dirty="0"/>
          </a:p>
        </p:txBody>
      </p:sp>
      <p:sp>
        <p:nvSpPr>
          <p:cNvPr id="20" name="Text 18"/>
          <p:cNvSpPr/>
          <p:nvPr/>
        </p:nvSpPr>
        <p:spPr>
          <a:xfrm>
            <a:off x="713232" y="5138928"/>
            <a:ext cx="2217420" cy="850392"/>
          </a:xfrm>
          <a:prstGeom prst="rect">
            <a:avLst/>
          </a:prstGeom>
          <a:noFill/>
          <a:ln/>
        </p:spPr>
        <p:txBody>
          <a:bodyPr wrap="square" rtlCol="0" anchor="t"/>
          <a:lstStyle/>
          <a:p>
            <a:pPr marL="0" indent="0">
              <a:buNone/>
            </a:pPr>
            <a:r>
              <a:rPr lang="en-US" sz="1200" dirty="0">
                <a:solidFill>
                  <a:srgbClr val="1B2440"/>
                </a:solidFill>
                <a:latin typeface="Calibri" pitchFamily="34" charset="0"/>
                <a:ea typeface="Calibri" pitchFamily="34" charset="-122"/>
                <a:cs typeface="Calibri" pitchFamily="34" charset="-120"/>
              </a:rPr>
              <a:t>Examine salary &amp; compensation equity</a:t>
            </a:r>
            <a:endParaRPr lang="en-US" sz="1200" dirty="0"/>
          </a:p>
        </p:txBody>
      </p:sp>
      <p:sp>
        <p:nvSpPr>
          <p:cNvPr id="21" name="Shape 19"/>
          <p:cNvSpPr/>
          <p:nvPr/>
        </p:nvSpPr>
        <p:spPr>
          <a:xfrm>
            <a:off x="3387852" y="4681728"/>
            <a:ext cx="2546604" cy="1417320"/>
          </a:xfrm>
          <a:prstGeom prst="roundRect">
            <a:avLst>
              <a:gd name="adj" fmla="val 5161"/>
            </a:avLst>
          </a:prstGeom>
          <a:solidFill>
            <a:srgbClr val="FFFFFF"/>
          </a:solidFill>
          <a:ln/>
          <a:effectLst>
            <a:outerShdw blurRad="101600" dist="38100" dir="5400000" algn="bl" rotWithShape="0">
              <a:srgbClr val="000000">
                <a:alpha val="12000"/>
              </a:srgbClr>
            </a:outerShdw>
          </a:effectLst>
        </p:spPr>
      </p:sp>
      <p:sp>
        <p:nvSpPr>
          <p:cNvPr id="22" name="Text 20"/>
          <p:cNvSpPr/>
          <p:nvPr/>
        </p:nvSpPr>
        <p:spPr>
          <a:xfrm>
            <a:off x="3552444" y="4791456"/>
            <a:ext cx="2217420" cy="365760"/>
          </a:xfrm>
          <a:prstGeom prst="rect">
            <a:avLst/>
          </a:prstGeom>
          <a:noFill/>
          <a:ln/>
        </p:spPr>
        <p:txBody>
          <a:bodyPr wrap="square" rtlCol="0" anchor="ctr"/>
          <a:lstStyle/>
          <a:p>
            <a:pPr marL="0" indent="0">
              <a:buNone/>
            </a:pPr>
            <a:r>
              <a:rPr lang="en-US" sz="1800" b="1" dirty="0">
                <a:solidFill>
                  <a:srgbClr val="C9A227"/>
                </a:solidFill>
                <a:latin typeface="Cambria" pitchFamily="34" charset="0"/>
                <a:ea typeface="Cambria" pitchFamily="34" charset="-122"/>
                <a:cs typeface="Cambria" pitchFamily="34" charset="-120"/>
              </a:rPr>
              <a:t>06</a:t>
            </a:r>
            <a:endParaRPr lang="en-US" sz="1800" dirty="0"/>
          </a:p>
        </p:txBody>
      </p:sp>
      <p:sp>
        <p:nvSpPr>
          <p:cNvPr id="23" name="Text 21"/>
          <p:cNvSpPr/>
          <p:nvPr/>
        </p:nvSpPr>
        <p:spPr>
          <a:xfrm>
            <a:off x="3552444" y="5138928"/>
            <a:ext cx="2217420" cy="850392"/>
          </a:xfrm>
          <a:prstGeom prst="rect">
            <a:avLst/>
          </a:prstGeom>
          <a:noFill/>
          <a:ln/>
        </p:spPr>
        <p:txBody>
          <a:bodyPr wrap="square" rtlCol="0" anchor="t"/>
          <a:lstStyle/>
          <a:p>
            <a:pPr marL="0" indent="0">
              <a:buNone/>
            </a:pPr>
            <a:r>
              <a:rPr lang="en-US" sz="1200" dirty="0">
                <a:solidFill>
                  <a:srgbClr val="1B2440"/>
                </a:solidFill>
                <a:latin typeface="Calibri" pitchFamily="34" charset="0"/>
                <a:ea typeface="Calibri" pitchFamily="34" charset="-122"/>
                <a:cs typeface="Calibri" pitchFamily="34" charset="-120"/>
              </a:rPr>
              <a:t>Rate recruitment source effectiveness</a:t>
            </a:r>
            <a:endParaRPr lang="en-US" sz="1200" dirty="0"/>
          </a:p>
        </p:txBody>
      </p:sp>
      <p:sp>
        <p:nvSpPr>
          <p:cNvPr id="24" name="Shape 22"/>
          <p:cNvSpPr/>
          <p:nvPr/>
        </p:nvSpPr>
        <p:spPr>
          <a:xfrm>
            <a:off x="6227064" y="4681728"/>
            <a:ext cx="2546604" cy="1417320"/>
          </a:xfrm>
          <a:prstGeom prst="roundRect">
            <a:avLst>
              <a:gd name="adj" fmla="val 5161"/>
            </a:avLst>
          </a:prstGeom>
          <a:solidFill>
            <a:srgbClr val="FFFFFF"/>
          </a:solidFill>
          <a:ln/>
          <a:effectLst>
            <a:outerShdw blurRad="101600" dist="38100" dir="5400000" algn="bl" rotWithShape="0">
              <a:srgbClr val="000000">
                <a:alpha val="12000"/>
              </a:srgbClr>
            </a:outerShdw>
          </a:effectLst>
        </p:spPr>
      </p:sp>
      <p:sp>
        <p:nvSpPr>
          <p:cNvPr id="25" name="Text 23"/>
          <p:cNvSpPr/>
          <p:nvPr/>
        </p:nvSpPr>
        <p:spPr>
          <a:xfrm>
            <a:off x="6391656" y="4791456"/>
            <a:ext cx="2217420" cy="365760"/>
          </a:xfrm>
          <a:prstGeom prst="rect">
            <a:avLst/>
          </a:prstGeom>
          <a:noFill/>
          <a:ln/>
        </p:spPr>
        <p:txBody>
          <a:bodyPr wrap="square" rtlCol="0" anchor="ctr"/>
          <a:lstStyle/>
          <a:p>
            <a:pPr marL="0" indent="0">
              <a:buNone/>
            </a:pPr>
            <a:r>
              <a:rPr lang="en-US" sz="1800" b="1" dirty="0">
                <a:solidFill>
                  <a:srgbClr val="C9A227"/>
                </a:solidFill>
                <a:latin typeface="Cambria" pitchFamily="34" charset="0"/>
                <a:ea typeface="Cambria" pitchFamily="34" charset="-122"/>
                <a:cs typeface="Cambria" pitchFamily="34" charset="-120"/>
              </a:rPr>
              <a:t>07</a:t>
            </a:r>
            <a:endParaRPr lang="en-US" sz="1800" dirty="0"/>
          </a:p>
        </p:txBody>
      </p:sp>
      <p:sp>
        <p:nvSpPr>
          <p:cNvPr id="26" name="Text 24"/>
          <p:cNvSpPr/>
          <p:nvPr/>
        </p:nvSpPr>
        <p:spPr>
          <a:xfrm>
            <a:off x="6391656" y="5138928"/>
            <a:ext cx="2217420" cy="850392"/>
          </a:xfrm>
          <a:prstGeom prst="rect">
            <a:avLst/>
          </a:prstGeom>
          <a:noFill/>
          <a:ln/>
        </p:spPr>
        <p:txBody>
          <a:bodyPr wrap="square" rtlCol="0" anchor="t"/>
          <a:lstStyle/>
          <a:p>
            <a:pPr marL="0" indent="0">
              <a:buNone/>
            </a:pPr>
            <a:r>
              <a:rPr lang="en-US" sz="1200" dirty="0">
                <a:solidFill>
                  <a:srgbClr val="1B2440"/>
                </a:solidFill>
                <a:latin typeface="Calibri" pitchFamily="34" charset="0"/>
                <a:ea typeface="Calibri" pitchFamily="34" charset="-122"/>
                <a:cs typeface="Calibri" pitchFamily="34" charset="-120"/>
              </a:rPr>
              <a:t>Explore engagement &amp; satisfaction</a:t>
            </a:r>
            <a:endParaRPr lang="en-US" sz="1200" dirty="0"/>
          </a:p>
        </p:txBody>
      </p:sp>
      <p:sp>
        <p:nvSpPr>
          <p:cNvPr id="27" name="Shape 25"/>
          <p:cNvSpPr/>
          <p:nvPr/>
        </p:nvSpPr>
        <p:spPr>
          <a:xfrm>
            <a:off x="9066276" y="4681728"/>
            <a:ext cx="2546604" cy="1417320"/>
          </a:xfrm>
          <a:prstGeom prst="roundRect">
            <a:avLst>
              <a:gd name="adj" fmla="val 5161"/>
            </a:avLst>
          </a:prstGeom>
          <a:solidFill>
            <a:srgbClr val="FFFFFF"/>
          </a:solidFill>
          <a:ln/>
          <a:effectLst>
            <a:outerShdw blurRad="101600" dist="38100" dir="5400000" algn="bl" rotWithShape="0">
              <a:srgbClr val="000000">
                <a:alpha val="12000"/>
              </a:srgbClr>
            </a:outerShdw>
          </a:effectLst>
        </p:spPr>
      </p:sp>
      <p:sp>
        <p:nvSpPr>
          <p:cNvPr id="28" name="Text 26"/>
          <p:cNvSpPr/>
          <p:nvPr/>
        </p:nvSpPr>
        <p:spPr>
          <a:xfrm>
            <a:off x="9230868" y="4791456"/>
            <a:ext cx="2217420" cy="365760"/>
          </a:xfrm>
          <a:prstGeom prst="rect">
            <a:avLst/>
          </a:prstGeom>
          <a:noFill/>
          <a:ln/>
        </p:spPr>
        <p:txBody>
          <a:bodyPr wrap="square" rtlCol="0" anchor="ctr"/>
          <a:lstStyle/>
          <a:p>
            <a:pPr marL="0" indent="0">
              <a:buNone/>
            </a:pPr>
            <a:r>
              <a:rPr lang="en-US" sz="1800" b="1" dirty="0">
                <a:solidFill>
                  <a:srgbClr val="C9A227"/>
                </a:solidFill>
                <a:latin typeface="Cambria" pitchFamily="34" charset="0"/>
                <a:ea typeface="Cambria" pitchFamily="34" charset="-122"/>
                <a:cs typeface="Cambria" pitchFamily="34" charset="-120"/>
              </a:rPr>
              <a:t>08</a:t>
            </a:r>
            <a:endParaRPr lang="en-US" sz="1800" dirty="0"/>
          </a:p>
        </p:txBody>
      </p:sp>
      <p:sp>
        <p:nvSpPr>
          <p:cNvPr id="29" name="Text 27"/>
          <p:cNvSpPr/>
          <p:nvPr/>
        </p:nvSpPr>
        <p:spPr>
          <a:xfrm>
            <a:off x="9230868" y="5138928"/>
            <a:ext cx="2217420" cy="850392"/>
          </a:xfrm>
          <a:prstGeom prst="rect">
            <a:avLst/>
          </a:prstGeom>
          <a:noFill/>
          <a:ln/>
        </p:spPr>
        <p:txBody>
          <a:bodyPr wrap="square" rtlCol="0" anchor="t"/>
          <a:lstStyle/>
          <a:p>
            <a:pPr marL="0" indent="0">
              <a:buNone/>
            </a:pPr>
            <a:r>
              <a:rPr lang="en-US" sz="1200" dirty="0">
                <a:solidFill>
                  <a:srgbClr val="1B2440"/>
                </a:solidFill>
                <a:latin typeface="Calibri" pitchFamily="34" charset="0"/>
                <a:ea typeface="Calibri" pitchFamily="34" charset="-122"/>
                <a:cs typeface="Calibri" pitchFamily="34" charset="-120"/>
              </a:rPr>
              <a:t>Generate strategic recommendations</a:t>
            </a:r>
            <a:endParaRPr lang="en-US" sz="1200" dirty="0"/>
          </a:p>
        </p:txBody>
      </p:sp>
      <p:sp>
        <p:nvSpPr>
          <p:cNvPr id="30" name="Text 28"/>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64708A"/>
                </a:solidFill>
                <a:latin typeface="Calibri" pitchFamily="34" charset="0"/>
                <a:ea typeface="Calibri" pitchFamily="34" charset="-122"/>
                <a:cs typeface="Calibri" pitchFamily="34" charset="-120"/>
              </a:rPr>
              <a:t>HR Workforce Analytics</a:t>
            </a:r>
            <a:endParaRPr lang="en-US" sz="900" dirty="0"/>
          </a:p>
        </p:txBody>
      </p:sp>
      <p:sp>
        <p:nvSpPr>
          <p:cNvPr id="31" name="Text 2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4708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DATA &amp; METHOD</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From messy records to an analysis-ready dataset</a:t>
            </a:r>
            <a:endParaRPr lang="en-US" sz="3000" dirty="0"/>
          </a:p>
        </p:txBody>
      </p:sp>
      <p:sp>
        <p:nvSpPr>
          <p:cNvPr id="4" name="Shape 2"/>
          <p:cNvSpPr/>
          <p:nvPr/>
        </p:nvSpPr>
        <p:spPr>
          <a:xfrm>
            <a:off x="548640" y="1783080"/>
            <a:ext cx="5349240" cy="4160520"/>
          </a:xfrm>
          <a:prstGeom prst="roundRect">
            <a:avLst>
              <a:gd name="adj" fmla="val 1758"/>
            </a:avLst>
          </a:prstGeom>
          <a:solidFill>
            <a:srgbClr val="FFFFFF"/>
          </a:solidFill>
          <a:ln/>
          <a:effectLst>
            <a:outerShdw blurRad="101600" dist="38100" dir="5400000" algn="bl" rotWithShape="0">
              <a:srgbClr val="000000">
                <a:alpha val="12000"/>
              </a:srgbClr>
            </a:outerShdw>
          </a:effectLst>
        </p:spPr>
      </p:sp>
      <p:sp>
        <p:nvSpPr>
          <p:cNvPr id="5" name="Text 3"/>
          <p:cNvSpPr/>
          <p:nvPr/>
        </p:nvSpPr>
        <p:spPr>
          <a:xfrm>
            <a:off x="868680" y="1965960"/>
            <a:ext cx="4572000" cy="274320"/>
          </a:xfrm>
          <a:prstGeom prst="rect">
            <a:avLst/>
          </a:prstGeom>
          <a:noFill/>
          <a:ln/>
        </p:spPr>
        <p:txBody>
          <a:bodyPr wrap="square" rtlCol="0" anchor="ctr"/>
          <a:lstStyle/>
          <a:p>
            <a:pPr marL="0" indent="0">
              <a:buNone/>
            </a:pPr>
            <a:r>
              <a:rPr lang="en-US" sz="1200" b="1" kern="0" spc="150" dirty="0">
                <a:solidFill>
                  <a:srgbClr val="C9A227"/>
                </a:solidFill>
                <a:latin typeface="Calibri" pitchFamily="34" charset="0"/>
                <a:ea typeface="Calibri" pitchFamily="34" charset="-122"/>
                <a:cs typeface="Calibri" pitchFamily="34" charset="-120"/>
              </a:rPr>
              <a:t>DATASET</a:t>
            </a:r>
            <a:endParaRPr lang="en-US" sz="1200" dirty="0"/>
          </a:p>
        </p:txBody>
      </p:sp>
      <p:sp>
        <p:nvSpPr>
          <p:cNvPr id="6" name="Text 4"/>
          <p:cNvSpPr/>
          <p:nvPr/>
        </p:nvSpPr>
        <p:spPr>
          <a:xfrm>
            <a:off x="868680" y="2267712"/>
            <a:ext cx="475488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Human Resources Data Set (Kaggle, rhuebner)</a:t>
            </a:r>
            <a:endParaRPr lang="en-US" sz="1600" dirty="0"/>
          </a:p>
        </p:txBody>
      </p:sp>
      <p:sp>
        <p:nvSpPr>
          <p:cNvPr id="7" name="Text 5"/>
          <p:cNvSpPr/>
          <p:nvPr/>
        </p:nvSpPr>
        <p:spPr>
          <a:xfrm>
            <a:off x="868680" y="2788920"/>
            <a:ext cx="2468880" cy="365760"/>
          </a:xfrm>
          <a:prstGeom prst="rect">
            <a:avLst/>
          </a:prstGeom>
          <a:noFill/>
          <a:ln/>
        </p:spPr>
        <p:txBody>
          <a:bodyPr wrap="square" rtlCol="0" anchor="ctr"/>
          <a:lstStyle/>
          <a:p>
            <a:pPr marL="0" indent="0">
              <a:buNone/>
            </a:pPr>
            <a:r>
              <a:rPr lang="en-US" sz="1250" dirty="0">
                <a:solidFill>
                  <a:srgbClr val="64708A"/>
                </a:solidFill>
                <a:latin typeface="Calibri" pitchFamily="34" charset="0"/>
                <a:ea typeface="Calibri" pitchFamily="34" charset="-122"/>
                <a:cs typeface="Calibri" pitchFamily="34" charset="-120"/>
              </a:rPr>
              <a:t>Original size</a:t>
            </a:r>
            <a:endParaRPr lang="en-US" sz="1250" dirty="0"/>
          </a:p>
        </p:txBody>
      </p:sp>
      <p:sp>
        <p:nvSpPr>
          <p:cNvPr id="8" name="Text 6"/>
          <p:cNvSpPr/>
          <p:nvPr/>
        </p:nvSpPr>
        <p:spPr>
          <a:xfrm>
            <a:off x="3246120" y="2788920"/>
            <a:ext cx="2468880" cy="365760"/>
          </a:xfrm>
          <a:prstGeom prst="rect">
            <a:avLst/>
          </a:prstGeom>
          <a:noFill/>
          <a:ln/>
        </p:spPr>
        <p:txBody>
          <a:bodyPr wrap="square" rtlCol="0" anchor="ctr"/>
          <a:lstStyle/>
          <a:p>
            <a:pPr marL="0" indent="0">
              <a:buNone/>
            </a:pPr>
            <a:r>
              <a:rPr lang="en-US" sz="1250" b="1" dirty="0">
                <a:solidFill>
                  <a:srgbClr val="1B2440"/>
                </a:solidFill>
                <a:latin typeface="Calibri" pitchFamily="34" charset="0"/>
                <a:ea typeface="Calibri" pitchFamily="34" charset="-122"/>
                <a:cs typeface="Calibri" pitchFamily="34" charset="-120"/>
              </a:rPr>
              <a:t>311 rows × 36 columns</a:t>
            </a:r>
            <a:endParaRPr lang="en-US" sz="1250" dirty="0"/>
          </a:p>
        </p:txBody>
      </p:sp>
      <p:sp>
        <p:nvSpPr>
          <p:cNvPr id="9" name="Text 7"/>
          <p:cNvSpPr/>
          <p:nvPr/>
        </p:nvSpPr>
        <p:spPr>
          <a:xfrm>
            <a:off x="868680" y="3172968"/>
            <a:ext cx="2468880" cy="365760"/>
          </a:xfrm>
          <a:prstGeom prst="rect">
            <a:avLst/>
          </a:prstGeom>
          <a:noFill/>
          <a:ln/>
        </p:spPr>
        <p:txBody>
          <a:bodyPr wrap="square" rtlCol="0" anchor="ctr"/>
          <a:lstStyle/>
          <a:p>
            <a:pPr marL="0" indent="0">
              <a:buNone/>
            </a:pPr>
            <a:r>
              <a:rPr lang="en-US" sz="1250" dirty="0">
                <a:solidFill>
                  <a:srgbClr val="64708A"/>
                </a:solidFill>
                <a:latin typeface="Calibri" pitchFamily="34" charset="0"/>
                <a:ea typeface="Calibri" pitchFamily="34" charset="-122"/>
                <a:cs typeface="Calibri" pitchFamily="34" charset="-120"/>
              </a:rPr>
              <a:t>Cleaned size</a:t>
            </a:r>
            <a:endParaRPr lang="en-US" sz="1250" dirty="0"/>
          </a:p>
        </p:txBody>
      </p:sp>
      <p:sp>
        <p:nvSpPr>
          <p:cNvPr id="10" name="Text 8"/>
          <p:cNvSpPr/>
          <p:nvPr/>
        </p:nvSpPr>
        <p:spPr>
          <a:xfrm>
            <a:off x="3246120" y="3172968"/>
            <a:ext cx="2468880" cy="365760"/>
          </a:xfrm>
          <a:prstGeom prst="rect">
            <a:avLst/>
          </a:prstGeom>
          <a:noFill/>
          <a:ln/>
        </p:spPr>
        <p:txBody>
          <a:bodyPr wrap="square" rtlCol="0" anchor="ctr"/>
          <a:lstStyle/>
          <a:p>
            <a:pPr marL="0" indent="0">
              <a:buNone/>
            </a:pPr>
            <a:r>
              <a:rPr lang="en-US" sz="1250" b="1" dirty="0">
                <a:solidFill>
                  <a:srgbClr val="1B2440"/>
                </a:solidFill>
                <a:latin typeface="Calibri" pitchFamily="34" charset="0"/>
                <a:ea typeface="Calibri" pitchFamily="34" charset="-122"/>
                <a:cs typeface="Calibri" pitchFamily="34" charset="-120"/>
              </a:rPr>
              <a:t>311 rows × 30 columns</a:t>
            </a:r>
            <a:endParaRPr lang="en-US" sz="1250" dirty="0"/>
          </a:p>
        </p:txBody>
      </p:sp>
      <p:sp>
        <p:nvSpPr>
          <p:cNvPr id="11" name="Text 9"/>
          <p:cNvSpPr/>
          <p:nvPr/>
        </p:nvSpPr>
        <p:spPr>
          <a:xfrm>
            <a:off x="868680" y="3557016"/>
            <a:ext cx="2468880" cy="365760"/>
          </a:xfrm>
          <a:prstGeom prst="rect">
            <a:avLst/>
          </a:prstGeom>
          <a:noFill/>
          <a:ln/>
        </p:spPr>
        <p:txBody>
          <a:bodyPr wrap="square" rtlCol="0" anchor="ctr"/>
          <a:lstStyle/>
          <a:p>
            <a:pPr marL="0" indent="0">
              <a:buNone/>
            </a:pPr>
            <a:r>
              <a:rPr lang="en-US" sz="1250" dirty="0">
                <a:solidFill>
                  <a:srgbClr val="64708A"/>
                </a:solidFill>
                <a:latin typeface="Calibri" pitchFamily="34" charset="0"/>
                <a:ea typeface="Calibri" pitchFamily="34" charset="-122"/>
                <a:cs typeface="Calibri" pitchFamily="34" charset="-120"/>
              </a:rPr>
              <a:t>Time span</a:t>
            </a:r>
            <a:endParaRPr lang="en-US" sz="1250" dirty="0"/>
          </a:p>
        </p:txBody>
      </p:sp>
      <p:sp>
        <p:nvSpPr>
          <p:cNvPr id="12" name="Text 10"/>
          <p:cNvSpPr/>
          <p:nvPr/>
        </p:nvSpPr>
        <p:spPr>
          <a:xfrm>
            <a:off x="3246120" y="3557016"/>
            <a:ext cx="2468880" cy="365760"/>
          </a:xfrm>
          <a:prstGeom prst="rect">
            <a:avLst/>
          </a:prstGeom>
          <a:noFill/>
          <a:ln/>
        </p:spPr>
        <p:txBody>
          <a:bodyPr wrap="square" rtlCol="0" anchor="ctr"/>
          <a:lstStyle/>
          <a:p>
            <a:pPr marL="0" indent="0">
              <a:buNone/>
            </a:pPr>
            <a:r>
              <a:rPr lang="en-US" sz="1250" b="1" dirty="0">
                <a:solidFill>
                  <a:srgbClr val="1B2440"/>
                </a:solidFill>
                <a:latin typeface="Calibri" pitchFamily="34" charset="0"/>
                <a:ea typeface="Calibri" pitchFamily="34" charset="-122"/>
                <a:cs typeface="Calibri" pitchFamily="34" charset="-120"/>
              </a:rPr>
              <a:t>Hires 2006–2018</a:t>
            </a:r>
            <a:endParaRPr lang="en-US" sz="1250" dirty="0"/>
          </a:p>
        </p:txBody>
      </p:sp>
      <p:sp>
        <p:nvSpPr>
          <p:cNvPr id="13" name="Text 11"/>
          <p:cNvSpPr/>
          <p:nvPr/>
        </p:nvSpPr>
        <p:spPr>
          <a:xfrm>
            <a:off x="868680" y="3941064"/>
            <a:ext cx="2468880" cy="365760"/>
          </a:xfrm>
          <a:prstGeom prst="rect">
            <a:avLst/>
          </a:prstGeom>
          <a:noFill/>
          <a:ln/>
        </p:spPr>
        <p:txBody>
          <a:bodyPr wrap="square" rtlCol="0" anchor="ctr"/>
          <a:lstStyle/>
          <a:p>
            <a:pPr marL="0" indent="0">
              <a:buNone/>
            </a:pPr>
            <a:r>
              <a:rPr lang="en-US" sz="1250" dirty="0">
                <a:solidFill>
                  <a:srgbClr val="64708A"/>
                </a:solidFill>
                <a:latin typeface="Calibri" pitchFamily="34" charset="0"/>
                <a:ea typeface="Calibri" pitchFamily="34" charset="-122"/>
                <a:cs typeface="Calibri" pitchFamily="34" charset="-120"/>
              </a:rPr>
              <a:t>Active employees</a:t>
            </a:r>
            <a:endParaRPr lang="en-US" sz="1250" dirty="0"/>
          </a:p>
        </p:txBody>
      </p:sp>
      <p:sp>
        <p:nvSpPr>
          <p:cNvPr id="14" name="Text 12"/>
          <p:cNvSpPr/>
          <p:nvPr/>
        </p:nvSpPr>
        <p:spPr>
          <a:xfrm>
            <a:off x="3246120" y="3941064"/>
            <a:ext cx="2468880" cy="365760"/>
          </a:xfrm>
          <a:prstGeom prst="rect">
            <a:avLst/>
          </a:prstGeom>
          <a:noFill/>
          <a:ln/>
        </p:spPr>
        <p:txBody>
          <a:bodyPr wrap="square" rtlCol="0" anchor="ctr"/>
          <a:lstStyle/>
          <a:p>
            <a:pPr marL="0" indent="0">
              <a:buNone/>
            </a:pPr>
            <a:r>
              <a:rPr lang="en-US" sz="1250" b="1" dirty="0">
                <a:solidFill>
                  <a:srgbClr val="1B2440"/>
                </a:solidFill>
                <a:latin typeface="Calibri" pitchFamily="34" charset="0"/>
                <a:ea typeface="Calibri" pitchFamily="34" charset="-122"/>
                <a:cs typeface="Calibri" pitchFamily="34" charset="-120"/>
              </a:rPr>
              <a:t>207 (66.6%)</a:t>
            </a:r>
            <a:endParaRPr lang="en-US" sz="1250" dirty="0"/>
          </a:p>
        </p:txBody>
      </p:sp>
      <p:sp>
        <p:nvSpPr>
          <p:cNvPr id="15" name="Text 13"/>
          <p:cNvSpPr/>
          <p:nvPr/>
        </p:nvSpPr>
        <p:spPr>
          <a:xfrm>
            <a:off x="868680" y="4325112"/>
            <a:ext cx="2468880" cy="365760"/>
          </a:xfrm>
          <a:prstGeom prst="rect">
            <a:avLst/>
          </a:prstGeom>
          <a:noFill/>
          <a:ln/>
        </p:spPr>
        <p:txBody>
          <a:bodyPr wrap="square" rtlCol="0" anchor="ctr"/>
          <a:lstStyle/>
          <a:p>
            <a:pPr marL="0" indent="0">
              <a:buNone/>
            </a:pPr>
            <a:r>
              <a:rPr lang="en-US" sz="1250" dirty="0">
                <a:solidFill>
                  <a:srgbClr val="64708A"/>
                </a:solidFill>
                <a:latin typeface="Calibri" pitchFamily="34" charset="0"/>
                <a:ea typeface="Calibri" pitchFamily="34" charset="-122"/>
                <a:cs typeface="Calibri" pitchFamily="34" charset="-120"/>
              </a:rPr>
              <a:t>Terminated employees</a:t>
            </a:r>
            <a:endParaRPr lang="en-US" sz="1250" dirty="0"/>
          </a:p>
        </p:txBody>
      </p:sp>
      <p:sp>
        <p:nvSpPr>
          <p:cNvPr id="16" name="Text 14"/>
          <p:cNvSpPr/>
          <p:nvPr/>
        </p:nvSpPr>
        <p:spPr>
          <a:xfrm>
            <a:off x="3246120" y="4325112"/>
            <a:ext cx="2468880" cy="365760"/>
          </a:xfrm>
          <a:prstGeom prst="rect">
            <a:avLst/>
          </a:prstGeom>
          <a:noFill/>
          <a:ln/>
        </p:spPr>
        <p:txBody>
          <a:bodyPr wrap="square" rtlCol="0" anchor="ctr"/>
          <a:lstStyle/>
          <a:p>
            <a:pPr marL="0" indent="0">
              <a:buNone/>
            </a:pPr>
            <a:r>
              <a:rPr lang="en-US" sz="1250" b="1" dirty="0">
                <a:solidFill>
                  <a:srgbClr val="1B2440"/>
                </a:solidFill>
                <a:latin typeface="Calibri" pitchFamily="34" charset="0"/>
                <a:ea typeface="Calibri" pitchFamily="34" charset="-122"/>
                <a:cs typeface="Calibri" pitchFamily="34" charset="-120"/>
              </a:rPr>
              <a:t>104 (33.4%)</a:t>
            </a:r>
            <a:endParaRPr lang="en-US" sz="1250" dirty="0"/>
          </a:p>
        </p:txBody>
      </p:sp>
      <p:sp>
        <p:nvSpPr>
          <p:cNvPr id="17" name="Text 15"/>
          <p:cNvSpPr/>
          <p:nvPr/>
        </p:nvSpPr>
        <p:spPr>
          <a:xfrm>
            <a:off x="868680" y="4709160"/>
            <a:ext cx="2468880" cy="365760"/>
          </a:xfrm>
          <a:prstGeom prst="rect">
            <a:avLst/>
          </a:prstGeom>
          <a:noFill/>
          <a:ln/>
        </p:spPr>
        <p:txBody>
          <a:bodyPr wrap="square" rtlCol="0" anchor="ctr"/>
          <a:lstStyle/>
          <a:p>
            <a:pPr marL="0" indent="0">
              <a:buNone/>
            </a:pPr>
            <a:r>
              <a:rPr lang="en-US" sz="1250" dirty="0">
                <a:solidFill>
                  <a:srgbClr val="64708A"/>
                </a:solidFill>
                <a:latin typeface="Calibri" pitchFamily="34" charset="0"/>
                <a:ea typeface="Calibri" pitchFamily="34" charset="-122"/>
                <a:cs typeface="Calibri" pitchFamily="34" charset="-120"/>
              </a:rPr>
              <a:t>Departments covered</a:t>
            </a:r>
            <a:endParaRPr lang="en-US" sz="1250" dirty="0"/>
          </a:p>
        </p:txBody>
      </p:sp>
      <p:sp>
        <p:nvSpPr>
          <p:cNvPr id="18" name="Text 16"/>
          <p:cNvSpPr/>
          <p:nvPr/>
        </p:nvSpPr>
        <p:spPr>
          <a:xfrm>
            <a:off x="3246120" y="4709160"/>
            <a:ext cx="2468880" cy="365760"/>
          </a:xfrm>
          <a:prstGeom prst="rect">
            <a:avLst/>
          </a:prstGeom>
          <a:noFill/>
          <a:ln/>
        </p:spPr>
        <p:txBody>
          <a:bodyPr wrap="square" rtlCol="0" anchor="ctr"/>
          <a:lstStyle/>
          <a:p>
            <a:pPr marL="0" indent="0">
              <a:buNone/>
            </a:pPr>
            <a:r>
              <a:rPr lang="en-US" sz="1250" b="1" dirty="0">
                <a:solidFill>
                  <a:srgbClr val="1B2440"/>
                </a:solidFill>
                <a:latin typeface="Calibri" pitchFamily="34" charset="0"/>
                <a:ea typeface="Calibri" pitchFamily="34" charset="-122"/>
                <a:cs typeface="Calibri" pitchFamily="34" charset="-120"/>
              </a:rPr>
              <a:t>6</a:t>
            </a:r>
            <a:endParaRPr lang="en-US" sz="1250" dirty="0"/>
          </a:p>
        </p:txBody>
      </p:sp>
      <p:sp>
        <p:nvSpPr>
          <p:cNvPr id="19" name="Shape 17"/>
          <p:cNvSpPr/>
          <p:nvPr/>
        </p:nvSpPr>
        <p:spPr>
          <a:xfrm>
            <a:off x="6172200" y="1783080"/>
            <a:ext cx="5468112" cy="4160520"/>
          </a:xfrm>
          <a:prstGeom prst="roundRect">
            <a:avLst>
              <a:gd name="adj" fmla="val 1758"/>
            </a:avLst>
          </a:prstGeom>
          <a:solidFill>
            <a:srgbClr val="FFFFFF"/>
          </a:solidFill>
          <a:ln/>
          <a:effectLst>
            <a:outerShdw blurRad="101600" dist="38100" dir="5400000" algn="bl" rotWithShape="0">
              <a:srgbClr val="000000">
                <a:alpha val="12000"/>
              </a:srgbClr>
            </a:outerShdw>
          </a:effectLst>
        </p:spPr>
      </p:sp>
      <p:sp>
        <p:nvSpPr>
          <p:cNvPr id="20" name="Text 18"/>
          <p:cNvSpPr/>
          <p:nvPr/>
        </p:nvSpPr>
        <p:spPr>
          <a:xfrm>
            <a:off x="6492240" y="1965960"/>
            <a:ext cx="4846320" cy="274320"/>
          </a:xfrm>
          <a:prstGeom prst="rect">
            <a:avLst/>
          </a:prstGeom>
          <a:noFill/>
          <a:ln/>
        </p:spPr>
        <p:txBody>
          <a:bodyPr wrap="square" rtlCol="0" anchor="ctr"/>
          <a:lstStyle/>
          <a:p>
            <a:pPr marL="0" indent="0">
              <a:buNone/>
            </a:pPr>
            <a:r>
              <a:rPr lang="en-US" sz="1200" b="1" kern="0" spc="150" dirty="0">
                <a:solidFill>
                  <a:srgbClr val="C9A227"/>
                </a:solidFill>
                <a:latin typeface="Calibri" pitchFamily="34" charset="0"/>
                <a:ea typeface="Calibri" pitchFamily="34" charset="-122"/>
                <a:cs typeface="Calibri" pitchFamily="34" charset="-120"/>
              </a:rPr>
              <a:t>CLEANING &amp; METHOD</a:t>
            </a:r>
            <a:endParaRPr lang="en-US" sz="1200" dirty="0"/>
          </a:p>
        </p:txBody>
      </p:sp>
      <p:sp>
        <p:nvSpPr>
          <p:cNvPr id="21" name="Shape 19"/>
          <p:cNvSpPr/>
          <p:nvPr/>
        </p:nvSpPr>
        <p:spPr>
          <a:xfrm>
            <a:off x="6492240" y="2404872"/>
            <a:ext cx="128016" cy="128016"/>
          </a:xfrm>
          <a:prstGeom prst="ellipse">
            <a:avLst/>
          </a:prstGeom>
          <a:solidFill>
            <a:srgbClr val="C9A227"/>
          </a:solidFill>
          <a:ln/>
        </p:spPr>
      </p:sp>
      <p:sp>
        <p:nvSpPr>
          <p:cNvPr id="22" name="Text 20"/>
          <p:cNvSpPr/>
          <p:nvPr/>
        </p:nvSpPr>
        <p:spPr>
          <a:xfrm>
            <a:off x="6784848" y="2286000"/>
            <a:ext cx="4709160" cy="457200"/>
          </a:xfrm>
          <a:prstGeom prst="rect">
            <a:avLst/>
          </a:prstGeom>
          <a:noFill/>
          <a:ln/>
        </p:spPr>
        <p:txBody>
          <a:bodyPr wrap="square" rtlCol="0" anchor="ctr"/>
          <a:lstStyle/>
          <a:p>
            <a:pPr marL="0" indent="0">
              <a:buNone/>
            </a:pPr>
            <a:r>
              <a:rPr lang="en-US" sz="1250" dirty="0">
                <a:solidFill>
                  <a:srgbClr val="1B2440"/>
                </a:solidFill>
                <a:latin typeface="Calibri" pitchFamily="34" charset="0"/>
                <a:ea typeface="Calibri" pitchFamily="34" charset="-122"/>
                <a:cs typeface="Calibri" pitchFamily="34" charset="-120"/>
              </a:rPr>
              <a:t>Removed 8 ID columns; trimmed duplicate position labels</a:t>
            </a:r>
            <a:endParaRPr lang="en-US" sz="1250" dirty="0"/>
          </a:p>
        </p:txBody>
      </p:sp>
      <p:sp>
        <p:nvSpPr>
          <p:cNvPr id="23" name="Shape 21"/>
          <p:cNvSpPr/>
          <p:nvPr/>
        </p:nvSpPr>
        <p:spPr>
          <a:xfrm>
            <a:off x="6492240" y="2889504"/>
            <a:ext cx="128016" cy="128016"/>
          </a:xfrm>
          <a:prstGeom prst="ellipse">
            <a:avLst/>
          </a:prstGeom>
          <a:solidFill>
            <a:srgbClr val="C9A227"/>
          </a:solidFill>
          <a:ln/>
        </p:spPr>
      </p:sp>
      <p:sp>
        <p:nvSpPr>
          <p:cNvPr id="24" name="Text 22"/>
          <p:cNvSpPr/>
          <p:nvPr/>
        </p:nvSpPr>
        <p:spPr>
          <a:xfrm>
            <a:off x="6784848" y="2770632"/>
            <a:ext cx="4709160" cy="457200"/>
          </a:xfrm>
          <a:prstGeom prst="rect">
            <a:avLst/>
          </a:prstGeom>
          <a:noFill/>
          <a:ln/>
        </p:spPr>
        <p:txBody>
          <a:bodyPr wrap="square" rtlCol="0" anchor="ctr"/>
          <a:lstStyle/>
          <a:p>
            <a:pPr marL="0" indent="0">
              <a:buNone/>
            </a:pPr>
            <a:r>
              <a:rPr lang="en-US" sz="1250" dirty="0">
                <a:solidFill>
                  <a:srgbClr val="1B2440"/>
                </a:solidFill>
                <a:latin typeface="Calibri" pitchFamily="34" charset="0"/>
                <a:ea typeface="Calibri" pitchFamily="34" charset="-122"/>
                <a:cs typeface="Calibri" pitchFamily="34" charset="-120"/>
              </a:rPr>
              <a:t>Fixed DOB parsing errors (two-digit year → correct century)</a:t>
            </a:r>
            <a:endParaRPr lang="en-US" sz="1250" dirty="0"/>
          </a:p>
        </p:txBody>
      </p:sp>
      <p:sp>
        <p:nvSpPr>
          <p:cNvPr id="25" name="Shape 23"/>
          <p:cNvSpPr/>
          <p:nvPr/>
        </p:nvSpPr>
        <p:spPr>
          <a:xfrm>
            <a:off x="6492240" y="3374136"/>
            <a:ext cx="128016" cy="128016"/>
          </a:xfrm>
          <a:prstGeom prst="ellipse">
            <a:avLst/>
          </a:prstGeom>
          <a:solidFill>
            <a:srgbClr val="C9A227"/>
          </a:solidFill>
          <a:ln/>
        </p:spPr>
      </p:sp>
      <p:sp>
        <p:nvSpPr>
          <p:cNvPr id="26" name="Text 24"/>
          <p:cNvSpPr/>
          <p:nvPr/>
        </p:nvSpPr>
        <p:spPr>
          <a:xfrm>
            <a:off x="6784848" y="3255264"/>
            <a:ext cx="4709160" cy="457200"/>
          </a:xfrm>
          <a:prstGeom prst="rect">
            <a:avLst/>
          </a:prstGeom>
          <a:noFill/>
          <a:ln/>
        </p:spPr>
        <p:txBody>
          <a:bodyPr wrap="square" rtlCol="0" anchor="ctr"/>
          <a:lstStyle/>
          <a:p>
            <a:pPr marL="0" indent="0">
              <a:buNone/>
            </a:pPr>
            <a:r>
              <a:rPr lang="en-US" sz="1250" dirty="0">
                <a:solidFill>
                  <a:srgbClr val="1B2440"/>
                </a:solidFill>
                <a:latin typeface="Calibri" pitchFamily="34" charset="0"/>
                <a:ea typeface="Calibri" pitchFamily="34" charset="-122"/>
                <a:cs typeface="Calibri" pitchFamily="34" charset="-120"/>
              </a:rPr>
              <a:t>Preserved legitimate blanks (207 active employees)</a:t>
            </a:r>
            <a:endParaRPr lang="en-US" sz="1250" dirty="0"/>
          </a:p>
        </p:txBody>
      </p:sp>
      <p:sp>
        <p:nvSpPr>
          <p:cNvPr id="27" name="Shape 25"/>
          <p:cNvSpPr/>
          <p:nvPr/>
        </p:nvSpPr>
        <p:spPr>
          <a:xfrm>
            <a:off x="6492240" y="3858768"/>
            <a:ext cx="128016" cy="128016"/>
          </a:xfrm>
          <a:prstGeom prst="ellipse">
            <a:avLst/>
          </a:prstGeom>
          <a:solidFill>
            <a:srgbClr val="C9A227"/>
          </a:solidFill>
          <a:ln/>
        </p:spPr>
      </p:sp>
      <p:sp>
        <p:nvSpPr>
          <p:cNvPr id="28" name="Text 26"/>
          <p:cNvSpPr/>
          <p:nvPr/>
        </p:nvSpPr>
        <p:spPr>
          <a:xfrm>
            <a:off x="6784848" y="3739896"/>
            <a:ext cx="4709160" cy="457200"/>
          </a:xfrm>
          <a:prstGeom prst="rect">
            <a:avLst/>
          </a:prstGeom>
          <a:noFill/>
          <a:ln/>
        </p:spPr>
        <p:txBody>
          <a:bodyPr wrap="square" rtlCol="0" anchor="ctr"/>
          <a:lstStyle/>
          <a:p>
            <a:pPr marL="0" indent="0">
              <a:buNone/>
            </a:pPr>
            <a:r>
              <a:rPr lang="en-US" sz="1250" dirty="0">
                <a:solidFill>
                  <a:srgbClr val="1B2440"/>
                </a:solidFill>
                <a:latin typeface="Calibri" pitchFamily="34" charset="0"/>
                <a:ea typeface="Calibri" pitchFamily="34" charset="-122"/>
                <a:cs typeface="Calibri" pitchFamily="34" charset="-120"/>
              </a:rPr>
              <a:t>Back-filled 8 missing Manager IDs from matching manager names</a:t>
            </a:r>
            <a:endParaRPr lang="en-US" sz="1250" dirty="0"/>
          </a:p>
        </p:txBody>
      </p:sp>
      <p:sp>
        <p:nvSpPr>
          <p:cNvPr id="29" name="Shape 27"/>
          <p:cNvSpPr/>
          <p:nvPr/>
        </p:nvSpPr>
        <p:spPr>
          <a:xfrm>
            <a:off x="6492240" y="4343400"/>
            <a:ext cx="128016" cy="128016"/>
          </a:xfrm>
          <a:prstGeom prst="ellipse">
            <a:avLst/>
          </a:prstGeom>
          <a:solidFill>
            <a:srgbClr val="C9A227"/>
          </a:solidFill>
          <a:ln/>
        </p:spPr>
      </p:sp>
      <p:sp>
        <p:nvSpPr>
          <p:cNvPr id="30" name="Text 28"/>
          <p:cNvSpPr/>
          <p:nvPr/>
        </p:nvSpPr>
        <p:spPr>
          <a:xfrm>
            <a:off x="6784848" y="4224528"/>
            <a:ext cx="4709160" cy="457200"/>
          </a:xfrm>
          <a:prstGeom prst="rect">
            <a:avLst/>
          </a:prstGeom>
          <a:noFill/>
          <a:ln/>
        </p:spPr>
        <p:txBody>
          <a:bodyPr wrap="square" rtlCol="0" anchor="ctr"/>
          <a:lstStyle/>
          <a:p>
            <a:pPr marL="0" indent="0">
              <a:buNone/>
            </a:pPr>
            <a:r>
              <a:rPr lang="en-US" sz="1250" dirty="0">
                <a:solidFill>
                  <a:srgbClr val="1B2440"/>
                </a:solidFill>
                <a:latin typeface="Calibri" pitchFamily="34" charset="0"/>
                <a:ea typeface="Calibri" pitchFamily="34" charset="-122"/>
                <a:cs typeface="Calibri" pitchFamily="34" charset="-120"/>
              </a:rPr>
              <a:t>Standardized odd TermReason entries; removed duplicates</a:t>
            </a:r>
            <a:endParaRPr lang="en-US" sz="1250" dirty="0"/>
          </a:p>
        </p:txBody>
      </p:sp>
      <p:sp>
        <p:nvSpPr>
          <p:cNvPr id="31" name="Shape 29"/>
          <p:cNvSpPr/>
          <p:nvPr/>
        </p:nvSpPr>
        <p:spPr>
          <a:xfrm>
            <a:off x="6492240" y="4828032"/>
            <a:ext cx="128016" cy="128016"/>
          </a:xfrm>
          <a:prstGeom prst="ellipse">
            <a:avLst/>
          </a:prstGeom>
          <a:solidFill>
            <a:srgbClr val="C9A227"/>
          </a:solidFill>
          <a:ln/>
        </p:spPr>
      </p:sp>
      <p:sp>
        <p:nvSpPr>
          <p:cNvPr id="32" name="Text 30"/>
          <p:cNvSpPr/>
          <p:nvPr/>
        </p:nvSpPr>
        <p:spPr>
          <a:xfrm>
            <a:off x="6784848" y="4709160"/>
            <a:ext cx="4709160" cy="457200"/>
          </a:xfrm>
          <a:prstGeom prst="rect">
            <a:avLst/>
          </a:prstGeom>
          <a:noFill/>
          <a:ln/>
        </p:spPr>
        <p:txBody>
          <a:bodyPr wrap="square" rtlCol="0" anchor="ctr"/>
          <a:lstStyle/>
          <a:p>
            <a:pPr marL="0" indent="0">
              <a:buNone/>
            </a:pPr>
            <a:r>
              <a:rPr lang="en-US" sz="1250" dirty="0">
                <a:solidFill>
                  <a:srgbClr val="1B2440"/>
                </a:solidFill>
                <a:latin typeface="Calibri" pitchFamily="34" charset="0"/>
                <a:ea typeface="Calibri" pitchFamily="34" charset="-122"/>
                <a:cs typeface="Calibri" pitchFamily="34" charset="-120"/>
              </a:rPr>
              <a:t>Engineered tenure, age bands &amp; DAX KPI measures in Power BI</a:t>
            </a:r>
            <a:endParaRPr lang="en-US" sz="1250" dirty="0"/>
          </a:p>
        </p:txBody>
      </p:sp>
      <p:sp>
        <p:nvSpPr>
          <p:cNvPr id="33" name="Text 31"/>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64708A"/>
                </a:solidFill>
                <a:latin typeface="Calibri" pitchFamily="34" charset="0"/>
                <a:ea typeface="Calibri" pitchFamily="34" charset="-122"/>
                <a:cs typeface="Calibri" pitchFamily="34" charset="-120"/>
              </a:rPr>
              <a:t>HR Workforce Analytics</a:t>
            </a:r>
            <a:endParaRPr lang="en-US" sz="900" dirty="0"/>
          </a:p>
        </p:txBody>
      </p:sp>
      <p:sp>
        <p:nvSpPr>
          <p:cNvPr id="34" name="Text 32"/>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4708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WHERE WE STAND TODAY</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headline numbers</a:t>
            </a:r>
            <a:endParaRPr lang="en-US" sz="3000" dirty="0"/>
          </a:p>
        </p:txBody>
      </p:sp>
      <p:sp>
        <p:nvSpPr>
          <p:cNvPr id="4" name="Shape 2"/>
          <p:cNvSpPr/>
          <p:nvPr/>
        </p:nvSpPr>
        <p:spPr>
          <a:xfrm>
            <a:off x="548640" y="2103120"/>
            <a:ext cx="2606040" cy="1920240"/>
          </a:xfrm>
          <a:prstGeom prst="roundRect">
            <a:avLst>
              <a:gd name="adj" fmla="val 3810"/>
            </a:avLst>
          </a:prstGeom>
          <a:solidFill>
            <a:srgbClr val="16204A"/>
          </a:solidFill>
          <a:ln/>
        </p:spPr>
      </p:sp>
      <p:sp>
        <p:nvSpPr>
          <p:cNvPr id="5" name="Text 3"/>
          <p:cNvSpPr/>
          <p:nvPr/>
        </p:nvSpPr>
        <p:spPr>
          <a:xfrm>
            <a:off x="548640" y="2377440"/>
            <a:ext cx="2606040" cy="82296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311</a:t>
            </a:r>
            <a:endParaRPr lang="en-US" sz="3600" dirty="0"/>
          </a:p>
        </p:txBody>
      </p:sp>
      <p:sp>
        <p:nvSpPr>
          <p:cNvPr id="6" name="Text 4"/>
          <p:cNvSpPr/>
          <p:nvPr/>
        </p:nvSpPr>
        <p:spPr>
          <a:xfrm>
            <a:off x="548640" y="3200400"/>
            <a:ext cx="2606040" cy="548640"/>
          </a:xfrm>
          <a:prstGeom prst="rect">
            <a:avLst/>
          </a:prstGeom>
          <a:noFill/>
          <a:ln/>
        </p:spPr>
        <p:txBody>
          <a:bodyPr wrap="square" rtlCol="0" anchor="ctr"/>
          <a:lstStyle/>
          <a:p>
            <a:pPr marL="0" indent="0" algn="ctr">
              <a:buNone/>
            </a:pPr>
            <a:r>
              <a:rPr lang="en-US" sz="1300" dirty="0">
                <a:solidFill>
                  <a:srgbClr val="AEB9D6"/>
                </a:solidFill>
                <a:latin typeface="Calibri" pitchFamily="34" charset="0"/>
                <a:ea typeface="Calibri" pitchFamily="34" charset="-122"/>
                <a:cs typeface="Calibri" pitchFamily="34" charset="-120"/>
              </a:rPr>
              <a:t>Total Employees</a:t>
            </a:r>
            <a:endParaRPr lang="en-US" sz="1300" dirty="0"/>
          </a:p>
        </p:txBody>
      </p:sp>
      <p:sp>
        <p:nvSpPr>
          <p:cNvPr id="7" name="Shape 5"/>
          <p:cNvSpPr/>
          <p:nvPr/>
        </p:nvSpPr>
        <p:spPr>
          <a:xfrm>
            <a:off x="3383280" y="2103120"/>
            <a:ext cx="2606040" cy="1920240"/>
          </a:xfrm>
          <a:prstGeom prst="roundRect">
            <a:avLst>
              <a:gd name="adj" fmla="val 3810"/>
            </a:avLst>
          </a:prstGeom>
          <a:solidFill>
            <a:srgbClr val="16204A"/>
          </a:solidFill>
          <a:ln/>
        </p:spPr>
      </p:sp>
      <p:sp>
        <p:nvSpPr>
          <p:cNvPr id="8" name="Text 6"/>
          <p:cNvSpPr/>
          <p:nvPr/>
        </p:nvSpPr>
        <p:spPr>
          <a:xfrm>
            <a:off x="3383280" y="2377440"/>
            <a:ext cx="2606040" cy="822960"/>
          </a:xfrm>
          <a:prstGeom prst="rect">
            <a:avLst/>
          </a:prstGeom>
          <a:noFill/>
          <a:ln/>
        </p:spPr>
        <p:txBody>
          <a:bodyPr wrap="square" rtlCol="0" anchor="ctr"/>
          <a:lstStyle/>
          <a:p>
            <a:pPr marL="0" indent="0" algn="ctr">
              <a:buNone/>
            </a:pPr>
            <a:r>
              <a:rPr lang="en-US" sz="3600" b="1" dirty="0">
                <a:solidFill>
                  <a:srgbClr val="F2A38C"/>
                </a:solidFill>
                <a:latin typeface="Cambria" pitchFamily="34" charset="0"/>
                <a:ea typeface="Cambria" pitchFamily="34" charset="-122"/>
                <a:cs typeface="Cambria" pitchFamily="34" charset="-120"/>
              </a:rPr>
              <a:t>33.4%</a:t>
            </a:r>
            <a:endParaRPr lang="en-US" sz="3600" dirty="0"/>
          </a:p>
        </p:txBody>
      </p:sp>
      <p:sp>
        <p:nvSpPr>
          <p:cNvPr id="9" name="Text 7"/>
          <p:cNvSpPr/>
          <p:nvPr/>
        </p:nvSpPr>
        <p:spPr>
          <a:xfrm>
            <a:off x="3383280" y="3200400"/>
            <a:ext cx="2606040" cy="548640"/>
          </a:xfrm>
          <a:prstGeom prst="rect">
            <a:avLst/>
          </a:prstGeom>
          <a:noFill/>
          <a:ln/>
        </p:spPr>
        <p:txBody>
          <a:bodyPr wrap="square" rtlCol="0" anchor="ctr"/>
          <a:lstStyle/>
          <a:p>
            <a:pPr marL="0" indent="0" algn="ctr">
              <a:buNone/>
            </a:pPr>
            <a:r>
              <a:rPr lang="en-US" sz="1300" dirty="0">
                <a:solidFill>
                  <a:srgbClr val="AEB9D6"/>
                </a:solidFill>
                <a:latin typeface="Calibri" pitchFamily="34" charset="0"/>
                <a:ea typeface="Calibri" pitchFamily="34" charset="-122"/>
                <a:cs typeface="Calibri" pitchFamily="34" charset="-120"/>
              </a:rPr>
              <a:t>Attrition Rate</a:t>
            </a:r>
            <a:endParaRPr lang="en-US" sz="1300" dirty="0"/>
          </a:p>
        </p:txBody>
      </p:sp>
      <p:sp>
        <p:nvSpPr>
          <p:cNvPr id="10" name="Shape 8"/>
          <p:cNvSpPr/>
          <p:nvPr/>
        </p:nvSpPr>
        <p:spPr>
          <a:xfrm>
            <a:off x="6217920" y="2103120"/>
            <a:ext cx="2606040" cy="1920240"/>
          </a:xfrm>
          <a:prstGeom prst="roundRect">
            <a:avLst>
              <a:gd name="adj" fmla="val 3810"/>
            </a:avLst>
          </a:prstGeom>
          <a:solidFill>
            <a:srgbClr val="16204A"/>
          </a:solidFill>
          <a:ln/>
        </p:spPr>
      </p:sp>
      <p:sp>
        <p:nvSpPr>
          <p:cNvPr id="11" name="Text 9"/>
          <p:cNvSpPr/>
          <p:nvPr/>
        </p:nvSpPr>
        <p:spPr>
          <a:xfrm>
            <a:off x="6217920" y="2377440"/>
            <a:ext cx="2606040" cy="822960"/>
          </a:xfrm>
          <a:prstGeom prst="rect">
            <a:avLst/>
          </a:prstGeom>
          <a:noFill/>
          <a:ln/>
        </p:spPr>
        <p:txBody>
          <a:bodyPr wrap="square" rtlCol="0" anchor="ctr"/>
          <a:lstStyle/>
          <a:p>
            <a:pPr marL="0" indent="0" algn="ctr">
              <a:buNone/>
            </a:pPr>
            <a:r>
              <a:rPr lang="en-US" sz="3600" b="1" dirty="0">
                <a:solidFill>
                  <a:srgbClr val="8FE0BC"/>
                </a:solidFill>
                <a:latin typeface="Cambria" pitchFamily="34" charset="0"/>
                <a:ea typeface="Cambria" pitchFamily="34" charset="-122"/>
                <a:cs typeface="Cambria" pitchFamily="34" charset="-120"/>
              </a:rPr>
              <a:t>66.6%</a:t>
            </a:r>
            <a:endParaRPr lang="en-US" sz="3600" dirty="0"/>
          </a:p>
        </p:txBody>
      </p:sp>
      <p:sp>
        <p:nvSpPr>
          <p:cNvPr id="12" name="Text 10"/>
          <p:cNvSpPr/>
          <p:nvPr/>
        </p:nvSpPr>
        <p:spPr>
          <a:xfrm>
            <a:off x="6217920" y="3200400"/>
            <a:ext cx="2606040" cy="548640"/>
          </a:xfrm>
          <a:prstGeom prst="rect">
            <a:avLst/>
          </a:prstGeom>
          <a:noFill/>
          <a:ln/>
        </p:spPr>
        <p:txBody>
          <a:bodyPr wrap="square" rtlCol="0" anchor="ctr"/>
          <a:lstStyle/>
          <a:p>
            <a:pPr marL="0" indent="0" algn="ctr">
              <a:buNone/>
            </a:pPr>
            <a:r>
              <a:rPr lang="en-US" sz="1300" dirty="0">
                <a:solidFill>
                  <a:srgbClr val="AEB9D6"/>
                </a:solidFill>
                <a:latin typeface="Calibri" pitchFamily="34" charset="0"/>
                <a:ea typeface="Calibri" pitchFamily="34" charset="-122"/>
                <a:cs typeface="Calibri" pitchFamily="34" charset="-120"/>
              </a:rPr>
              <a:t>Retention Rate</a:t>
            </a:r>
            <a:endParaRPr lang="en-US" sz="1300" dirty="0"/>
          </a:p>
        </p:txBody>
      </p:sp>
      <p:sp>
        <p:nvSpPr>
          <p:cNvPr id="13" name="Shape 11"/>
          <p:cNvSpPr/>
          <p:nvPr/>
        </p:nvSpPr>
        <p:spPr>
          <a:xfrm>
            <a:off x="9052560" y="2103120"/>
            <a:ext cx="2606040" cy="1920240"/>
          </a:xfrm>
          <a:prstGeom prst="roundRect">
            <a:avLst>
              <a:gd name="adj" fmla="val 3810"/>
            </a:avLst>
          </a:prstGeom>
          <a:solidFill>
            <a:srgbClr val="16204A"/>
          </a:solidFill>
          <a:ln/>
        </p:spPr>
      </p:sp>
      <p:sp>
        <p:nvSpPr>
          <p:cNvPr id="14" name="Text 12"/>
          <p:cNvSpPr/>
          <p:nvPr/>
        </p:nvSpPr>
        <p:spPr>
          <a:xfrm>
            <a:off x="9052560" y="2377440"/>
            <a:ext cx="2606040" cy="822960"/>
          </a:xfrm>
          <a:prstGeom prst="rect">
            <a:avLst/>
          </a:prstGeom>
          <a:noFill/>
          <a:ln/>
        </p:spPr>
        <p:txBody>
          <a:bodyPr wrap="square" rtlCol="0" anchor="ctr"/>
          <a:lstStyle/>
          <a:p>
            <a:pPr marL="0" indent="0" algn="ctr">
              <a:buNone/>
            </a:pPr>
            <a:r>
              <a:rPr lang="en-US" sz="3600" b="1" dirty="0">
                <a:solidFill>
                  <a:srgbClr val="CADCFC"/>
                </a:solidFill>
                <a:latin typeface="Cambria" pitchFamily="34" charset="0"/>
                <a:ea typeface="Cambria" pitchFamily="34" charset="-122"/>
                <a:cs typeface="Cambria" pitchFamily="34" charset="-120"/>
              </a:rPr>
              <a:t>4.11 / 5</a:t>
            </a:r>
            <a:endParaRPr lang="en-US" sz="3600" dirty="0"/>
          </a:p>
        </p:txBody>
      </p:sp>
      <p:sp>
        <p:nvSpPr>
          <p:cNvPr id="15" name="Text 13"/>
          <p:cNvSpPr/>
          <p:nvPr/>
        </p:nvSpPr>
        <p:spPr>
          <a:xfrm>
            <a:off x="9052560" y="3200400"/>
            <a:ext cx="2606040" cy="548640"/>
          </a:xfrm>
          <a:prstGeom prst="rect">
            <a:avLst/>
          </a:prstGeom>
          <a:noFill/>
          <a:ln/>
        </p:spPr>
        <p:txBody>
          <a:bodyPr wrap="square" rtlCol="0" anchor="ctr"/>
          <a:lstStyle/>
          <a:p>
            <a:pPr marL="0" indent="0" algn="ctr">
              <a:buNone/>
            </a:pPr>
            <a:r>
              <a:rPr lang="en-US" sz="1300" dirty="0">
                <a:solidFill>
                  <a:srgbClr val="AEB9D6"/>
                </a:solidFill>
                <a:latin typeface="Calibri" pitchFamily="34" charset="0"/>
                <a:ea typeface="Calibri" pitchFamily="34" charset="-122"/>
                <a:cs typeface="Calibri" pitchFamily="34" charset="-120"/>
              </a:rPr>
              <a:t>Avg. Engagement Score</a:t>
            </a:r>
            <a:endParaRPr lang="en-US" sz="1300" dirty="0"/>
          </a:p>
        </p:txBody>
      </p:sp>
      <p:sp>
        <p:nvSpPr>
          <p:cNvPr id="16" name="Text 14"/>
          <p:cNvSpPr/>
          <p:nvPr/>
        </p:nvSpPr>
        <p:spPr>
          <a:xfrm>
            <a:off x="548640" y="4434840"/>
            <a:ext cx="10789920" cy="822960"/>
          </a:xfrm>
          <a:prstGeom prst="rect">
            <a:avLst/>
          </a:prstGeom>
          <a:noFill/>
          <a:ln/>
        </p:spPr>
        <p:txBody>
          <a:bodyPr wrap="square" rtlCol="0" anchor="ctr"/>
          <a:lstStyle/>
          <a:p>
            <a:pPr marL="0" indent="0" algn="l">
              <a:buNone/>
            </a:pPr>
            <a:r>
              <a:rPr lang="en-US" sz="1500" i="1" dirty="0">
                <a:solidFill>
                  <a:srgbClr val="CADCFC"/>
                </a:solidFill>
                <a:latin typeface="Calibri" pitchFamily="34" charset="0"/>
                <a:ea typeface="Calibri" pitchFamily="34" charset="-122"/>
                <a:cs typeface="Calibri" pitchFamily="34" charset="-120"/>
              </a:rPr>
              <a:t>Attrition is not random . it is concentrated by department, by tenure stage, and by recruitment source. The rest of this deck walks through the evidence.</a:t>
            </a:r>
            <a:endParaRPr lang="en-US" sz="1500" dirty="0"/>
          </a:p>
        </p:txBody>
      </p:sp>
      <p:sp>
        <p:nvSpPr>
          <p:cNvPr id="17" name="Text 15"/>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592B5"/>
                </a:solidFill>
                <a:latin typeface="Calibri" pitchFamily="34" charset="0"/>
                <a:ea typeface="Calibri" pitchFamily="34" charset="-122"/>
                <a:cs typeface="Calibri" pitchFamily="34" charset="-120"/>
              </a:rPr>
              <a:t>HR Workforce Analytics</a:t>
            </a:r>
            <a:endParaRPr lang="en-US" sz="9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8592B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FINDING 1 · </a:t>
            </a:r>
            <a:r>
              <a:rPr lang="en-GB" sz="1200" b="1" kern="0" spc="200" dirty="0">
                <a:solidFill>
                  <a:srgbClr val="C9A227"/>
                </a:solidFill>
                <a:latin typeface="Calibri" pitchFamily="34" charset="0"/>
                <a:ea typeface="Calibri" pitchFamily="34" charset="-122"/>
                <a:cs typeface="Calibri" pitchFamily="34" charset="-120"/>
              </a:rPr>
              <a:t>WHICH DEPARTMENTS EXPERIENCE THE HIGHEST EMPLOYEE TURNOVER RATES</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Production drives most of the company’s turnover </a:t>
            </a:r>
            <a:endParaRPr lang="en-US" sz="3000" dirty="0"/>
          </a:p>
        </p:txBody>
      </p:sp>
      <p:sp>
        <p:nvSpPr>
          <p:cNvPr id="5" name="Shape 2"/>
          <p:cNvSpPr/>
          <p:nvPr/>
        </p:nvSpPr>
        <p:spPr>
          <a:xfrm>
            <a:off x="7799832" y="1689235"/>
            <a:ext cx="3931920" cy="4297680"/>
          </a:xfrm>
          <a:prstGeom prst="roundRect">
            <a:avLst>
              <a:gd name="adj" fmla="val 1860"/>
            </a:avLst>
          </a:prstGeom>
          <a:solidFill>
            <a:srgbClr val="FFFFFF"/>
          </a:solidFill>
          <a:ln/>
          <a:effectLst>
            <a:outerShdw blurRad="101600" dist="38100" dir="5400000" algn="bl" rotWithShape="0">
              <a:srgbClr val="000000">
                <a:alpha val="12000"/>
              </a:srgbClr>
            </a:outerShdw>
          </a:effectLst>
        </p:spPr>
      </p:sp>
      <p:sp>
        <p:nvSpPr>
          <p:cNvPr id="6" name="Text 3"/>
          <p:cNvSpPr/>
          <p:nvPr/>
        </p:nvSpPr>
        <p:spPr>
          <a:xfrm>
            <a:off x="8001000" y="1965960"/>
            <a:ext cx="3474720" cy="274320"/>
          </a:xfrm>
          <a:prstGeom prst="rect">
            <a:avLst/>
          </a:prstGeom>
          <a:noFill/>
          <a:ln/>
        </p:spPr>
        <p:txBody>
          <a:bodyPr wrap="square" rtlCol="0" anchor="ctr"/>
          <a:lstStyle/>
          <a:p>
            <a:pPr marL="0" indent="0">
              <a:buNone/>
            </a:pPr>
            <a:r>
              <a:rPr lang="en-US" sz="1150" b="1" kern="0" spc="150" dirty="0">
                <a:solidFill>
                  <a:srgbClr val="C9A227"/>
                </a:solidFill>
                <a:latin typeface="Calibri" pitchFamily="34" charset="0"/>
                <a:ea typeface="Calibri" pitchFamily="34" charset="-122"/>
                <a:cs typeface="Calibri" pitchFamily="34" charset="-120"/>
              </a:rPr>
              <a:t>WHY IT MATTERS</a:t>
            </a:r>
            <a:endParaRPr lang="en-US" sz="1150" dirty="0"/>
          </a:p>
        </p:txBody>
      </p:sp>
      <p:sp>
        <p:nvSpPr>
          <p:cNvPr id="7" name="Text 4"/>
          <p:cNvSpPr/>
          <p:nvPr/>
        </p:nvSpPr>
        <p:spPr>
          <a:xfrm>
            <a:off x="8001000" y="2331720"/>
            <a:ext cx="3474720" cy="1280160"/>
          </a:xfrm>
          <a:prstGeom prst="rect">
            <a:avLst/>
          </a:prstGeom>
          <a:noFill/>
          <a:ln/>
        </p:spPr>
        <p:txBody>
          <a:bodyPr wrap="square" rtlCol="0" anchor="ctr"/>
          <a:lstStyle/>
          <a:p>
            <a:pPr marL="0" indent="0">
              <a:buNone/>
            </a:pPr>
            <a:r>
              <a:rPr lang="en-US" sz="1350" dirty="0">
                <a:solidFill>
                  <a:srgbClr val="1B2440"/>
                </a:solidFill>
                <a:latin typeface="Calibri" pitchFamily="34" charset="0"/>
                <a:ea typeface="Calibri" pitchFamily="34" charset="-122"/>
                <a:cs typeface="Calibri" pitchFamily="34" charset="-120"/>
              </a:rPr>
              <a:t>Production is 67% of the workforce (209 of 311 employees) and has the highest turnover rate at 39.7%.</a:t>
            </a:r>
            <a:endParaRPr lang="en-US" sz="1350" dirty="0"/>
          </a:p>
        </p:txBody>
      </p:sp>
      <p:sp>
        <p:nvSpPr>
          <p:cNvPr id="8" name="Text 5"/>
          <p:cNvSpPr/>
          <p:nvPr/>
        </p:nvSpPr>
        <p:spPr>
          <a:xfrm>
            <a:off x="8001000" y="3291840"/>
            <a:ext cx="3474720" cy="758951"/>
          </a:xfrm>
          <a:prstGeom prst="rect">
            <a:avLst/>
          </a:prstGeom>
          <a:noFill/>
          <a:ln/>
        </p:spPr>
        <p:txBody>
          <a:bodyPr wrap="square" rtlCol="0" anchor="ctr"/>
          <a:lstStyle/>
          <a:p>
            <a:pPr marL="0" indent="0">
              <a:buNone/>
            </a:pPr>
            <a:r>
              <a:rPr lang="en-US" sz="1350" dirty="0">
                <a:solidFill>
                  <a:srgbClr val="1B2440"/>
                </a:solidFill>
                <a:latin typeface="Calibri" pitchFamily="34" charset="0"/>
                <a:ea typeface="Calibri" pitchFamily="34" charset="-122"/>
                <a:cs typeface="Calibri" pitchFamily="34" charset="-120"/>
              </a:rPr>
              <a:t>Software Engineering is smaller (11 employees) but runs a close second at 36.4%.</a:t>
            </a:r>
            <a:endParaRPr lang="en-US" sz="1350" dirty="0"/>
          </a:p>
        </p:txBody>
      </p:sp>
      <p:sp>
        <p:nvSpPr>
          <p:cNvPr id="9" name="Shape 6"/>
          <p:cNvSpPr/>
          <p:nvPr/>
        </p:nvSpPr>
        <p:spPr>
          <a:xfrm>
            <a:off x="8001000" y="4135973"/>
            <a:ext cx="3291840" cy="0"/>
          </a:xfrm>
          <a:prstGeom prst="line">
            <a:avLst/>
          </a:prstGeom>
          <a:noFill/>
          <a:ln w="12700">
            <a:solidFill>
              <a:srgbClr val="E2E6EF"/>
            </a:solidFill>
            <a:prstDash val="solid"/>
          </a:ln>
        </p:spPr>
      </p:sp>
      <p:sp>
        <p:nvSpPr>
          <p:cNvPr id="10" name="Text 7"/>
          <p:cNvSpPr/>
          <p:nvPr/>
        </p:nvSpPr>
        <p:spPr>
          <a:xfrm>
            <a:off x="8001000" y="4306823"/>
            <a:ext cx="3474720" cy="1545337"/>
          </a:xfrm>
          <a:prstGeom prst="rect">
            <a:avLst/>
          </a:prstGeom>
          <a:noFill/>
          <a:ln/>
        </p:spPr>
        <p:txBody>
          <a:bodyPr wrap="square" rtlCol="0" anchor="ctr"/>
          <a:lstStyle/>
          <a:p>
            <a:pPr marL="0" indent="0">
              <a:buNone/>
            </a:pPr>
            <a:r>
              <a:rPr lang="en-US" sz="1250" i="1" dirty="0">
                <a:solidFill>
                  <a:srgbClr val="1E2761"/>
                </a:solidFill>
                <a:latin typeface="Calibri" pitchFamily="34" charset="0"/>
                <a:ea typeface="Calibri" pitchFamily="34" charset="-122"/>
                <a:cs typeface="Calibri" pitchFamily="34" charset="-120"/>
              </a:rPr>
              <a:t>A modest improvement in Production's turnover moves the whole-company number more than any other single intervention. The company should </a:t>
            </a:r>
            <a:r>
              <a:rPr lang="en-GB" sz="1250" i="1" dirty="0">
                <a:solidFill>
                  <a:srgbClr val="1E2761"/>
                </a:solidFill>
                <a:latin typeface="Calibri" pitchFamily="34" charset="0"/>
                <a:ea typeface="Calibri" pitchFamily="34" charset="-122"/>
                <a:cs typeface="Calibri" pitchFamily="34" charset="-120"/>
              </a:rPr>
              <a:t>prioritize retention actions in Production first. That could include supervisor coaching, pay review, workload review, and targeted stay interviews.</a:t>
            </a:r>
            <a:endParaRPr lang="en-US" sz="1250" dirty="0"/>
          </a:p>
        </p:txBody>
      </p:sp>
      <p:sp>
        <p:nvSpPr>
          <p:cNvPr id="11" name="Text 8"/>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64708A"/>
                </a:solidFill>
                <a:latin typeface="Calibri" pitchFamily="34" charset="0"/>
                <a:ea typeface="Calibri" pitchFamily="34" charset="-122"/>
                <a:cs typeface="Calibri" pitchFamily="34" charset="-120"/>
              </a:rPr>
              <a:t>HR Workforce Analytics</a:t>
            </a:r>
            <a:endParaRPr lang="en-US" sz="900" dirty="0"/>
          </a:p>
        </p:txBody>
      </p:sp>
      <p:sp>
        <p:nvSpPr>
          <p:cNvPr id="12" name="Text 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4708A"/>
                </a:solidFill>
                <a:latin typeface="Calibri" pitchFamily="34" charset="0"/>
                <a:ea typeface="Calibri" pitchFamily="34" charset="-122"/>
                <a:cs typeface="Calibri" pitchFamily="34" charset="-120"/>
              </a:rPr>
              <a:t>6</a:t>
            </a:r>
            <a:endParaRPr lang="en-US" sz="900" dirty="0"/>
          </a:p>
        </p:txBody>
      </p:sp>
      <p:pic>
        <p:nvPicPr>
          <p:cNvPr id="19" name="Picture 18">
            <a:extLst>
              <a:ext uri="{FF2B5EF4-FFF2-40B4-BE49-F238E27FC236}">
                <a16:creationId xmlns:a16="http://schemas.microsoft.com/office/drawing/2014/main" id="{15C3C6D5-F8D8-9AB7-90B4-956E26AEF75A}"/>
              </a:ext>
            </a:extLst>
          </p:cNvPr>
          <p:cNvPicPr>
            <a:picLocks noChangeAspect="1"/>
          </p:cNvPicPr>
          <p:nvPr/>
        </p:nvPicPr>
        <p:blipFill>
          <a:blip r:embed="rId3"/>
          <a:stretch>
            <a:fillRect/>
          </a:stretch>
        </p:blipFill>
        <p:spPr>
          <a:xfrm>
            <a:off x="1013129" y="1689936"/>
            <a:ext cx="5988171" cy="44569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FINDING 2 · WHY EMPLOYEES LEAVE</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Most exits are voluntary and opportunity-driven</a:t>
            </a:r>
            <a:endParaRPr lang="en-US" sz="3000" dirty="0"/>
          </a:p>
        </p:txBody>
      </p:sp>
      <p:sp>
        <p:nvSpPr>
          <p:cNvPr id="5" name="Text 2"/>
          <p:cNvSpPr/>
          <p:nvPr/>
        </p:nvSpPr>
        <p:spPr>
          <a:xfrm>
            <a:off x="548640" y="5623560"/>
            <a:ext cx="11064240" cy="502920"/>
          </a:xfrm>
          <a:prstGeom prst="rect">
            <a:avLst/>
          </a:prstGeom>
          <a:noFill/>
          <a:ln/>
        </p:spPr>
        <p:txBody>
          <a:bodyPr wrap="square" rtlCol="0" anchor="ctr"/>
          <a:lstStyle/>
          <a:p>
            <a:pPr marL="0" indent="0">
              <a:buNone/>
            </a:pPr>
            <a:r>
              <a:rPr lang="en-US" sz="1350" i="1" dirty="0">
                <a:solidFill>
                  <a:srgbClr val="1E2761"/>
                </a:solidFill>
                <a:latin typeface="Calibri" pitchFamily="34" charset="0"/>
                <a:ea typeface="Calibri" pitchFamily="34" charset="-122"/>
                <a:cs typeface="Calibri" pitchFamily="34" charset="-120"/>
              </a:rPr>
              <a:t>40 of 104 terminations (Another Position + More Money + Career Change) are career-motivated moves,  far more than performance-related exits (4).</a:t>
            </a:r>
            <a:endParaRPr lang="en-US" sz="1350" dirty="0"/>
          </a:p>
        </p:txBody>
      </p:sp>
      <p:sp>
        <p:nvSpPr>
          <p:cNvPr id="6" name="Text 3"/>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64708A"/>
                </a:solidFill>
                <a:latin typeface="Calibri" pitchFamily="34" charset="0"/>
                <a:ea typeface="Calibri" pitchFamily="34" charset="-122"/>
                <a:cs typeface="Calibri" pitchFamily="34" charset="-120"/>
              </a:rPr>
              <a:t>HR Workforce Analytics</a:t>
            </a:r>
            <a:endParaRPr lang="en-US" sz="900" dirty="0"/>
          </a:p>
        </p:txBody>
      </p:sp>
      <p:sp>
        <p:nvSpPr>
          <p:cNvPr id="7" name="Text 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4708A"/>
                </a:solidFill>
                <a:latin typeface="Calibri" pitchFamily="34" charset="0"/>
                <a:ea typeface="Calibri" pitchFamily="34" charset="-122"/>
                <a:cs typeface="Calibri" pitchFamily="34" charset="-120"/>
              </a:rPr>
              <a:t>7</a:t>
            </a:r>
            <a:endParaRPr lang="en-US" sz="900" dirty="0"/>
          </a:p>
        </p:txBody>
      </p:sp>
      <p:sp>
        <p:nvSpPr>
          <p:cNvPr id="8" name="Shape 2">
            <a:extLst>
              <a:ext uri="{FF2B5EF4-FFF2-40B4-BE49-F238E27FC236}">
                <a16:creationId xmlns:a16="http://schemas.microsoft.com/office/drawing/2014/main" id="{BC35CA84-05B8-C063-FA5C-BF1755ED2528}"/>
              </a:ext>
            </a:extLst>
          </p:cNvPr>
          <p:cNvSpPr/>
          <p:nvPr/>
        </p:nvSpPr>
        <p:spPr>
          <a:xfrm>
            <a:off x="7726680" y="1481328"/>
            <a:ext cx="3931920" cy="4118168"/>
          </a:xfrm>
          <a:prstGeom prst="roundRect">
            <a:avLst>
              <a:gd name="adj" fmla="val 1860"/>
            </a:avLst>
          </a:prstGeom>
          <a:solidFill>
            <a:srgbClr val="FFFFFF"/>
          </a:solidFill>
          <a:ln/>
          <a:effectLst>
            <a:outerShdw blurRad="101600" dist="38100" dir="5400000" algn="bl" rotWithShape="0">
              <a:srgbClr val="000000">
                <a:alpha val="12000"/>
              </a:srgbClr>
            </a:outerShdw>
          </a:effectLst>
        </p:spPr>
      </p:sp>
      <p:sp>
        <p:nvSpPr>
          <p:cNvPr id="10" name="TextBox 9">
            <a:extLst>
              <a:ext uri="{FF2B5EF4-FFF2-40B4-BE49-F238E27FC236}">
                <a16:creationId xmlns:a16="http://schemas.microsoft.com/office/drawing/2014/main" id="{3EB2BE11-D011-A3FD-CD09-1CD36AD9097E}"/>
              </a:ext>
            </a:extLst>
          </p:cNvPr>
          <p:cNvSpPr txBox="1"/>
          <p:nvPr/>
        </p:nvSpPr>
        <p:spPr>
          <a:xfrm>
            <a:off x="7863840" y="1481328"/>
            <a:ext cx="3578192" cy="269304"/>
          </a:xfrm>
          <a:prstGeom prst="rect">
            <a:avLst/>
          </a:prstGeom>
          <a:noFill/>
        </p:spPr>
        <p:txBody>
          <a:bodyPr wrap="square" rtlCol="0">
            <a:spAutoFit/>
          </a:bodyPr>
          <a:lstStyle/>
          <a:p>
            <a:r>
              <a:rPr lang="en-US" sz="1100" b="1" kern="0" spc="150" dirty="0">
                <a:solidFill>
                  <a:srgbClr val="C9A227"/>
                </a:solidFill>
                <a:latin typeface="Calibri" pitchFamily="34" charset="0"/>
                <a:ea typeface="Calibri" pitchFamily="34" charset="-122"/>
                <a:cs typeface="Calibri" pitchFamily="34" charset="-120"/>
              </a:rPr>
              <a:t>WHY IT </a:t>
            </a:r>
            <a:r>
              <a:rPr lang="en-US" sz="1150" b="1" kern="0" spc="150" dirty="0">
                <a:solidFill>
                  <a:srgbClr val="C9A227"/>
                </a:solidFill>
                <a:latin typeface="Calibri" pitchFamily="34" charset="0"/>
                <a:ea typeface="Calibri" pitchFamily="34" charset="-122"/>
                <a:cs typeface="Calibri" pitchFamily="34" charset="-120"/>
              </a:rPr>
              <a:t>MATTERS</a:t>
            </a:r>
            <a:endParaRPr lang="en-NG" sz="1150" dirty="0"/>
          </a:p>
        </p:txBody>
      </p:sp>
      <p:pic>
        <p:nvPicPr>
          <p:cNvPr id="12" name="Picture 11">
            <a:extLst>
              <a:ext uri="{FF2B5EF4-FFF2-40B4-BE49-F238E27FC236}">
                <a16:creationId xmlns:a16="http://schemas.microsoft.com/office/drawing/2014/main" id="{9BA3D80F-FE02-8825-B569-D2EECF841B9D}"/>
              </a:ext>
            </a:extLst>
          </p:cNvPr>
          <p:cNvPicPr>
            <a:picLocks noChangeAspect="1"/>
          </p:cNvPicPr>
          <p:nvPr/>
        </p:nvPicPr>
        <p:blipFill>
          <a:blip r:embed="rId3"/>
          <a:stretch>
            <a:fillRect/>
          </a:stretch>
        </p:blipFill>
        <p:spPr>
          <a:xfrm>
            <a:off x="648903" y="1481328"/>
            <a:ext cx="5767938" cy="4005072"/>
          </a:xfrm>
          <a:prstGeom prst="rect">
            <a:avLst/>
          </a:prstGeom>
        </p:spPr>
      </p:pic>
      <p:sp>
        <p:nvSpPr>
          <p:cNvPr id="13" name="TextBox 12">
            <a:extLst>
              <a:ext uri="{FF2B5EF4-FFF2-40B4-BE49-F238E27FC236}">
                <a16:creationId xmlns:a16="http://schemas.microsoft.com/office/drawing/2014/main" id="{3343CB86-9DE6-804E-C4E7-7180F31FCDED}"/>
              </a:ext>
            </a:extLst>
          </p:cNvPr>
          <p:cNvSpPr txBox="1"/>
          <p:nvPr/>
        </p:nvSpPr>
        <p:spPr>
          <a:xfrm>
            <a:off x="7863840" y="1864895"/>
            <a:ext cx="3679257" cy="1408078"/>
          </a:xfrm>
          <a:prstGeom prst="rect">
            <a:avLst/>
          </a:prstGeom>
          <a:noFill/>
        </p:spPr>
        <p:txBody>
          <a:bodyPr wrap="square" rtlCol="0">
            <a:spAutoFit/>
          </a:bodyPr>
          <a:lstStyle/>
          <a:p>
            <a:pPr algn="just"/>
            <a:r>
              <a:rPr lang="en-NG" sz="1350" dirty="0">
                <a:solidFill>
                  <a:srgbClr val="1B2440"/>
                </a:solidFill>
                <a:latin typeface="Calibri" pitchFamily="34" charset="0"/>
                <a:ea typeface="Calibri" pitchFamily="34" charset="-122"/>
                <a:cs typeface="Calibri" pitchFamily="34" charset="-120"/>
              </a:rPr>
              <a:t>Most attrition is voluntary and opportunity-driven rather than performance-driven, meaning it is largely preventable through competitive pay, career pathing, and engagement rather than discipline.</a:t>
            </a:r>
          </a:p>
          <a:p>
            <a:endParaRPr lang="en-NG" dirty="0"/>
          </a:p>
        </p:txBody>
      </p:sp>
      <p:sp>
        <p:nvSpPr>
          <p:cNvPr id="14" name="Shape 6">
            <a:extLst>
              <a:ext uri="{FF2B5EF4-FFF2-40B4-BE49-F238E27FC236}">
                <a16:creationId xmlns:a16="http://schemas.microsoft.com/office/drawing/2014/main" id="{4A913A3A-EAE9-01F5-3E18-C3E433E2FA75}"/>
              </a:ext>
            </a:extLst>
          </p:cNvPr>
          <p:cNvSpPr/>
          <p:nvPr/>
        </p:nvSpPr>
        <p:spPr>
          <a:xfrm>
            <a:off x="7982712" y="3272973"/>
            <a:ext cx="3291840" cy="0"/>
          </a:xfrm>
          <a:prstGeom prst="line">
            <a:avLst/>
          </a:prstGeom>
          <a:noFill/>
          <a:ln w="12700">
            <a:solidFill>
              <a:srgbClr val="E2E6EF"/>
            </a:solidFill>
            <a:prstDash val="solid"/>
          </a:ln>
        </p:spPr>
        <p:txBody>
          <a:bodyPr/>
          <a:lstStyle/>
          <a:p>
            <a:endParaRPr lang="en-NG" dirty="0"/>
          </a:p>
        </p:txBody>
      </p:sp>
      <p:sp>
        <p:nvSpPr>
          <p:cNvPr id="15" name="TextBox 14">
            <a:extLst>
              <a:ext uri="{FF2B5EF4-FFF2-40B4-BE49-F238E27FC236}">
                <a16:creationId xmlns:a16="http://schemas.microsoft.com/office/drawing/2014/main" id="{3F487717-5505-A791-72CA-8D2B1A2DBC57}"/>
              </a:ext>
            </a:extLst>
          </p:cNvPr>
          <p:cNvSpPr txBox="1"/>
          <p:nvPr/>
        </p:nvSpPr>
        <p:spPr>
          <a:xfrm>
            <a:off x="7863840" y="3597442"/>
            <a:ext cx="3578192" cy="1415772"/>
          </a:xfrm>
          <a:prstGeom prst="rect">
            <a:avLst/>
          </a:prstGeom>
          <a:noFill/>
        </p:spPr>
        <p:txBody>
          <a:bodyPr wrap="square" rtlCol="0">
            <a:spAutoFit/>
          </a:bodyPr>
          <a:lstStyle/>
          <a:p>
            <a:pPr algn="just"/>
            <a:r>
              <a:rPr lang="en-NG" sz="1800" b="1" dirty="0">
                <a:solidFill>
                  <a:srgbClr val="4C9A6A"/>
                </a:solidFill>
                <a:effectLst/>
                <a:latin typeface="Calibri" panose="020F0502020204030204" pitchFamily="34" charset="0"/>
                <a:ea typeface="Calibri" panose="020F0502020204030204" pitchFamily="34" charset="0"/>
              </a:rPr>
              <a:t> </a:t>
            </a:r>
            <a:r>
              <a:rPr lang="en-NG" sz="1250" i="1" dirty="0">
                <a:solidFill>
                  <a:srgbClr val="1E2761"/>
                </a:solidFill>
                <a:latin typeface="Calibri" pitchFamily="34" charset="0"/>
                <a:ea typeface="Calibri" pitchFamily="34" charset="-122"/>
                <a:cs typeface="Calibri" pitchFamily="34" charset="-120"/>
              </a:rPr>
              <a:t>Introduce structured stay interviews </a:t>
            </a:r>
            <a:r>
              <a:rPr lang="en-US" sz="1250" i="1" dirty="0">
                <a:solidFill>
                  <a:srgbClr val="1E2761"/>
                </a:solidFill>
                <a:latin typeface="Calibri" pitchFamily="34" charset="0"/>
                <a:ea typeface="Calibri" pitchFamily="34" charset="-122"/>
                <a:cs typeface="Calibri" pitchFamily="34" charset="-120"/>
              </a:rPr>
              <a:t>(one-on-one conversation)</a:t>
            </a:r>
            <a:r>
              <a:rPr lang="en-NG" sz="1250" i="1" dirty="0">
                <a:solidFill>
                  <a:srgbClr val="1E2761"/>
                </a:solidFill>
                <a:latin typeface="Calibri" pitchFamily="34" charset="0"/>
                <a:ea typeface="Calibri" pitchFamily="34" charset="-122"/>
                <a:cs typeface="Calibri" pitchFamily="34" charset="-120"/>
              </a:rPr>
              <a:t> and </a:t>
            </a:r>
            <a:r>
              <a:rPr lang="en-US" sz="1250" i="1" dirty="0">
                <a:solidFill>
                  <a:srgbClr val="1E2761"/>
                </a:solidFill>
                <a:latin typeface="Calibri" pitchFamily="34" charset="0"/>
                <a:ea typeface="Calibri" pitchFamily="34" charset="-122"/>
                <a:cs typeface="Calibri" pitchFamily="34" charset="-120"/>
              </a:rPr>
              <a:t>career development programs that provide employees with opportunities for promotions, cross-functional transfers, job rotation</a:t>
            </a:r>
            <a:r>
              <a:rPr lang="en-NG" sz="1250" i="1" dirty="0">
                <a:solidFill>
                  <a:srgbClr val="1E2761"/>
                </a:solidFill>
                <a:latin typeface="Calibri" pitchFamily="34" charset="0"/>
                <a:ea typeface="Calibri" pitchFamily="34" charset="-122"/>
                <a:cs typeface="Calibri" pitchFamily="34" charset="-120"/>
              </a:rPr>
              <a:t> and benchmark pay for roles where "more money“</a:t>
            </a:r>
            <a:r>
              <a:rPr lang="en-US" sz="1250" i="1" dirty="0">
                <a:solidFill>
                  <a:srgbClr val="1E2761"/>
                </a:solidFill>
                <a:latin typeface="Calibri" pitchFamily="34" charset="0"/>
                <a:ea typeface="Calibri" pitchFamily="34" charset="-122"/>
                <a:cs typeface="Calibri" pitchFamily="34" charset="-120"/>
              </a:rPr>
              <a:t> </a:t>
            </a:r>
            <a:r>
              <a:rPr lang="en-NG" sz="1250" i="1" dirty="0">
                <a:solidFill>
                  <a:srgbClr val="1E2761"/>
                </a:solidFill>
                <a:latin typeface="Calibri" pitchFamily="34" charset="0"/>
                <a:ea typeface="Calibri" pitchFamily="34" charset="-122"/>
                <a:cs typeface="Calibri" pitchFamily="34" charset="-120"/>
              </a:rPr>
              <a:t>and "another position" are recurring exit reasons</a:t>
            </a:r>
            <a:r>
              <a:rPr lang="en-NG" sz="1800" dirty="0">
                <a:solidFill>
                  <a:srgbClr val="222222"/>
                </a:solidFill>
                <a:effectLst/>
                <a:latin typeface="Calibri" panose="020F0502020204030204" pitchFamily="34" charset="0"/>
                <a:ea typeface="Calibri" panose="020F0502020204030204" pitchFamily="34" charset="0"/>
              </a:rPr>
              <a:t>.</a:t>
            </a:r>
            <a:endParaRPr lang="en-NG"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FINDING 3 · SOURCING QUALITY</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Where you hire from predicts who stays</a:t>
            </a:r>
            <a:endParaRPr lang="en-US" sz="3000" dirty="0"/>
          </a:p>
        </p:txBody>
      </p:sp>
      <p:sp>
        <p:nvSpPr>
          <p:cNvPr id="5" name="Shape 2"/>
          <p:cNvSpPr/>
          <p:nvPr/>
        </p:nvSpPr>
        <p:spPr>
          <a:xfrm>
            <a:off x="7863840" y="1725328"/>
            <a:ext cx="3931920" cy="4297680"/>
          </a:xfrm>
          <a:prstGeom prst="roundRect">
            <a:avLst>
              <a:gd name="adj" fmla="val 1860"/>
            </a:avLst>
          </a:prstGeom>
          <a:solidFill>
            <a:srgbClr val="FFFFFF"/>
          </a:solidFill>
          <a:ln/>
          <a:effectLst>
            <a:outerShdw blurRad="101600" dist="38100" dir="5400000" algn="bl" rotWithShape="0">
              <a:srgbClr val="000000">
                <a:alpha val="12000"/>
              </a:srgbClr>
            </a:outerShdw>
          </a:effectLst>
        </p:spPr>
      </p:sp>
      <p:sp>
        <p:nvSpPr>
          <p:cNvPr id="6" name="Text 3"/>
          <p:cNvSpPr/>
          <p:nvPr/>
        </p:nvSpPr>
        <p:spPr>
          <a:xfrm>
            <a:off x="8001000" y="1965960"/>
            <a:ext cx="3474720" cy="274320"/>
          </a:xfrm>
          <a:prstGeom prst="rect">
            <a:avLst/>
          </a:prstGeom>
          <a:noFill/>
          <a:ln/>
        </p:spPr>
        <p:txBody>
          <a:bodyPr wrap="square" rtlCol="0" anchor="ctr"/>
          <a:lstStyle/>
          <a:p>
            <a:pPr marL="0" indent="0">
              <a:buNone/>
            </a:pPr>
            <a:r>
              <a:rPr lang="en-US" sz="1150" b="1" kern="0" spc="150" dirty="0">
                <a:solidFill>
                  <a:srgbClr val="C9A227"/>
                </a:solidFill>
                <a:latin typeface="Calibri" pitchFamily="34" charset="0"/>
                <a:ea typeface="Calibri" pitchFamily="34" charset="-122"/>
                <a:cs typeface="Calibri" pitchFamily="34" charset="-120"/>
              </a:rPr>
              <a:t>WHY IT MATTERS</a:t>
            </a:r>
            <a:endParaRPr lang="en-US" sz="1150" dirty="0"/>
          </a:p>
        </p:txBody>
      </p:sp>
      <p:sp>
        <p:nvSpPr>
          <p:cNvPr id="7" name="Text 4"/>
          <p:cNvSpPr/>
          <p:nvPr/>
        </p:nvSpPr>
        <p:spPr>
          <a:xfrm>
            <a:off x="8001000" y="2331720"/>
            <a:ext cx="3474720" cy="1188720"/>
          </a:xfrm>
          <a:prstGeom prst="rect">
            <a:avLst/>
          </a:prstGeom>
          <a:noFill/>
          <a:ln/>
        </p:spPr>
        <p:txBody>
          <a:bodyPr wrap="square" rtlCol="0" anchor="ctr"/>
          <a:lstStyle/>
          <a:p>
            <a:pPr marL="0" indent="0" algn="just">
              <a:buNone/>
            </a:pPr>
            <a:r>
              <a:rPr lang="en-US" sz="1350" dirty="0">
                <a:solidFill>
                  <a:srgbClr val="1B2440"/>
                </a:solidFill>
                <a:latin typeface="Calibri" pitchFamily="34" charset="0"/>
                <a:ea typeface="Calibri" pitchFamily="34" charset="-122"/>
                <a:cs typeface="Calibri" pitchFamily="34" charset="-120"/>
              </a:rPr>
              <a:t>Average performance is almost identical across every source (2.8–3.2 on a 4-point scale). </a:t>
            </a:r>
            <a:r>
              <a:rPr lang="en-GB" sz="1350" dirty="0">
                <a:solidFill>
                  <a:srgbClr val="1B2440"/>
                </a:solidFill>
                <a:latin typeface="Calibri" pitchFamily="34" charset="0"/>
                <a:ea typeface="Calibri" pitchFamily="34" charset="-122"/>
                <a:cs typeface="Calibri" pitchFamily="34" charset="-120"/>
              </a:rPr>
              <a:t>But retention swings from 38.8% (Google Search) to 92.3% (Website) a 53-point gap for equally capable hires.</a:t>
            </a:r>
          </a:p>
          <a:p>
            <a:pPr marL="0" indent="0">
              <a:buNone/>
            </a:pPr>
            <a:endParaRPr lang="en-US" sz="1350" dirty="0"/>
          </a:p>
        </p:txBody>
      </p:sp>
      <p:sp>
        <p:nvSpPr>
          <p:cNvPr id="8" name="Text 5"/>
          <p:cNvSpPr/>
          <p:nvPr/>
        </p:nvSpPr>
        <p:spPr>
          <a:xfrm>
            <a:off x="8001000" y="3429000"/>
            <a:ext cx="3474720" cy="1188720"/>
          </a:xfrm>
          <a:prstGeom prst="rect">
            <a:avLst/>
          </a:prstGeom>
          <a:noFill/>
          <a:ln/>
        </p:spPr>
        <p:txBody>
          <a:bodyPr wrap="square" rtlCol="0" anchor="ctr"/>
          <a:lstStyle/>
          <a:p>
            <a:pPr marL="0" indent="0" algn="just">
              <a:buNone/>
            </a:pPr>
            <a:r>
              <a:rPr lang="en-GB" sz="1350" dirty="0">
                <a:solidFill>
                  <a:srgbClr val="1B2440"/>
                </a:solidFill>
                <a:latin typeface="Calibri" pitchFamily="34" charset="0"/>
                <a:ea typeface="Calibri" pitchFamily="34" charset="-122"/>
                <a:cs typeface="Calibri" pitchFamily="34" charset="-120"/>
              </a:rPr>
              <a:t>Since performance is similar across sources but retention is not, recruitment channel choice can significantly reduce attrition with a low-cost as referrals typically cost less per hire than paid channels.</a:t>
            </a:r>
            <a:endParaRPr lang="en-US" sz="1350" dirty="0">
              <a:solidFill>
                <a:srgbClr val="1B2440"/>
              </a:solidFill>
              <a:latin typeface="Calibri" pitchFamily="34" charset="0"/>
              <a:ea typeface="Calibri" pitchFamily="34" charset="-122"/>
              <a:cs typeface="Calibri" pitchFamily="34" charset="-120"/>
            </a:endParaRPr>
          </a:p>
        </p:txBody>
      </p:sp>
      <p:sp>
        <p:nvSpPr>
          <p:cNvPr id="9" name="Shape 6"/>
          <p:cNvSpPr/>
          <p:nvPr/>
        </p:nvSpPr>
        <p:spPr>
          <a:xfrm>
            <a:off x="8001000" y="4709160"/>
            <a:ext cx="3291840" cy="0"/>
          </a:xfrm>
          <a:prstGeom prst="line">
            <a:avLst/>
          </a:prstGeom>
          <a:noFill/>
          <a:ln w="12700">
            <a:solidFill>
              <a:srgbClr val="E2E6EF"/>
            </a:solidFill>
            <a:prstDash val="solid"/>
          </a:ln>
        </p:spPr>
      </p:sp>
      <p:sp>
        <p:nvSpPr>
          <p:cNvPr id="10" name="Text 7"/>
          <p:cNvSpPr/>
          <p:nvPr/>
        </p:nvSpPr>
        <p:spPr>
          <a:xfrm>
            <a:off x="8001000" y="4846320"/>
            <a:ext cx="3474720" cy="1005840"/>
          </a:xfrm>
          <a:prstGeom prst="rect">
            <a:avLst/>
          </a:prstGeom>
          <a:noFill/>
          <a:ln/>
        </p:spPr>
        <p:txBody>
          <a:bodyPr wrap="square" rtlCol="0" anchor="ctr"/>
          <a:lstStyle/>
          <a:p>
            <a:pPr marL="0" indent="0" algn="just">
              <a:buNone/>
            </a:pPr>
            <a:r>
              <a:rPr lang="en-GB" sz="1250" i="1" dirty="0">
                <a:solidFill>
                  <a:srgbClr val="1E2761"/>
                </a:solidFill>
                <a:latin typeface="Calibri" pitchFamily="34" charset="0"/>
                <a:ea typeface="Calibri" pitchFamily="34" charset="-122"/>
                <a:cs typeface="Calibri" pitchFamily="34" charset="-120"/>
              </a:rPr>
              <a:t>Shift recruiting spend and effort toward Employee Referral and direct Website applications, and audit the sourcing/screening process used for Google Search and Diversity Job Fair candidates to understand why early attrition is higher there</a:t>
            </a:r>
            <a:r>
              <a:rPr lang="en-GB" sz="1250" dirty="0"/>
              <a:t>.</a:t>
            </a:r>
            <a:endParaRPr lang="en-US" sz="1250" dirty="0"/>
          </a:p>
        </p:txBody>
      </p:sp>
      <p:sp>
        <p:nvSpPr>
          <p:cNvPr id="11" name="Text 8"/>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64708A"/>
                </a:solidFill>
                <a:latin typeface="Calibri" pitchFamily="34" charset="0"/>
                <a:ea typeface="Calibri" pitchFamily="34" charset="-122"/>
                <a:cs typeface="Calibri" pitchFamily="34" charset="-120"/>
              </a:rPr>
              <a:t>HR Workforce Analytics</a:t>
            </a:r>
            <a:endParaRPr lang="en-US" sz="900" dirty="0"/>
          </a:p>
        </p:txBody>
      </p:sp>
      <p:sp>
        <p:nvSpPr>
          <p:cNvPr id="12" name="Text 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4708A"/>
                </a:solidFill>
                <a:latin typeface="Calibri" pitchFamily="34" charset="0"/>
                <a:ea typeface="Calibri" pitchFamily="34" charset="-122"/>
                <a:cs typeface="Calibri" pitchFamily="34" charset="-120"/>
              </a:rPr>
              <a:t>8</a:t>
            </a:r>
            <a:endParaRPr lang="en-US" sz="900" dirty="0"/>
          </a:p>
        </p:txBody>
      </p:sp>
      <p:pic>
        <p:nvPicPr>
          <p:cNvPr id="14" name="Picture 13">
            <a:extLst>
              <a:ext uri="{FF2B5EF4-FFF2-40B4-BE49-F238E27FC236}">
                <a16:creationId xmlns:a16="http://schemas.microsoft.com/office/drawing/2014/main" id="{3573CBB2-137F-E15E-384F-CB1D90318841}"/>
              </a:ext>
            </a:extLst>
          </p:cNvPr>
          <p:cNvPicPr>
            <a:picLocks noChangeAspect="1"/>
          </p:cNvPicPr>
          <p:nvPr/>
        </p:nvPicPr>
        <p:blipFill>
          <a:blip r:embed="rId3"/>
          <a:stretch>
            <a:fillRect/>
          </a:stretch>
        </p:blipFill>
        <p:spPr>
          <a:xfrm>
            <a:off x="548640" y="1746663"/>
            <a:ext cx="6812280" cy="428837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FINDING 4 · THE BIGGEST SIGNAL</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Attrition risk is almost entirely a first-year problem</a:t>
            </a:r>
            <a:endParaRPr lang="en-US" sz="3000" dirty="0"/>
          </a:p>
        </p:txBody>
      </p:sp>
      <p:sp>
        <p:nvSpPr>
          <p:cNvPr id="5" name="Shape 2"/>
          <p:cNvSpPr/>
          <p:nvPr/>
        </p:nvSpPr>
        <p:spPr>
          <a:xfrm>
            <a:off x="7818120" y="1783080"/>
            <a:ext cx="3840480" cy="4206240"/>
          </a:xfrm>
          <a:prstGeom prst="roundRect">
            <a:avLst>
              <a:gd name="adj" fmla="val 1905"/>
            </a:avLst>
          </a:prstGeom>
          <a:solidFill>
            <a:srgbClr val="16204A"/>
          </a:solidFill>
          <a:ln/>
        </p:spPr>
      </p:sp>
      <p:sp>
        <p:nvSpPr>
          <p:cNvPr id="6" name="Text 3"/>
          <p:cNvSpPr/>
          <p:nvPr/>
        </p:nvSpPr>
        <p:spPr>
          <a:xfrm>
            <a:off x="8092440" y="2011680"/>
            <a:ext cx="3291840" cy="685800"/>
          </a:xfrm>
          <a:prstGeom prst="rect">
            <a:avLst/>
          </a:prstGeom>
          <a:noFill/>
          <a:ln/>
        </p:spPr>
        <p:txBody>
          <a:bodyPr wrap="square" rtlCol="0" anchor="ctr"/>
          <a:lstStyle/>
          <a:p>
            <a:pPr marL="0" indent="0">
              <a:buNone/>
            </a:pPr>
            <a:r>
              <a:rPr lang="en-US" sz="3400" b="1" dirty="0">
                <a:solidFill>
                  <a:srgbClr val="F2A38C"/>
                </a:solidFill>
                <a:latin typeface="Cambria" pitchFamily="34" charset="0"/>
                <a:ea typeface="Cambria" pitchFamily="34" charset="-122"/>
                <a:cs typeface="Cambria" pitchFamily="34" charset="-120"/>
              </a:rPr>
              <a:t>90%</a:t>
            </a:r>
            <a:endParaRPr lang="en-US" sz="3400" dirty="0"/>
          </a:p>
        </p:txBody>
      </p:sp>
      <p:sp>
        <p:nvSpPr>
          <p:cNvPr id="7" name="Text 4"/>
          <p:cNvSpPr/>
          <p:nvPr/>
        </p:nvSpPr>
        <p:spPr>
          <a:xfrm>
            <a:off x="8092440" y="2697480"/>
            <a:ext cx="3291840" cy="973768"/>
          </a:xfrm>
          <a:prstGeom prst="rect">
            <a:avLst/>
          </a:prstGeom>
          <a:noFill/>
          <a:ln/>
        </p:spPr>
        <p:txBody>
          <a:bodyPr wrap="square" rtlCol="0" anchor="ctr"/>
          <a:lstStyle/>
          <a:p>
            <a:pPr marL="0" indent="0">
              <a:buNone/>
            </a:pPr>
            <a:endParaRPr lang="en-US" sz="1300" dirty="0">
              <a:solidFill>
                <a:srgbClr val="FFFFFF"/>
              </a:solidFill>
              <a:latin typeface="Calibri" pitchFamily="34" charset="0"/>
              <a:ea typeface="Calibri" pitchFamily="34" charset="-122"/>
              <a:cs typeface="Calibri" pitchFamily="34" charset="-120"/>
            </a:endParaRPr>
          </a:p>
          <a:p>
            <a:pPr marL="0" indent="0">
              <a:buNone/>
            </a:pPr>
            <a:r>
              <a:rPr lang="en-US" sz="1300" dirty="0">
                <a:solidFill>
                  <a:srgbClr val="FFFFFF"/>
                </a:solidFill>
                <a:latin typeface="Calibri" pitchFamily="34" charset="0"/>
                <a:ea typeface="Calibri" pitchFamily="34" charset="-122"/>
                <a:cs typeface="Calibri" pitchFamily="34" charset="-120"/>
              </a:rPr>
              <a:t> </a:t>
            </a:r>
            <a:r>
              <a:rPr lang="en-GB" sz="1300" dirty="0">
                <a:solidFill>
                  <a:srgbClr val="FFFFFF"/>
                </a:solidFill>
                <a:latin typeface="Calibri" pitchFamily="34" charset="0"/>
                <a:ea typeface="Calibri" pitchFamily="34" charset="-122"/>
                <a:cs typeface="Calibri" pitchFamily="34" charset="-120"/>
              </a:rPr>
              <a:t>Early tenure, particularly </a:t>
            </a:r>
            <a:r>
              <a:rPr lang="en-US" sz="1300" dirty="0">
                <a:solidFill>
                  <a:srgbClr val="FFFFFF"/>
                </a:solidFill>
                <a:latin typeface="Calibri" pitchFamily="34" charset="0"/>
                <a:ea typeface="Calibri" pitchFamily="34" charset="-122"/>
                <a:cs typeface="Calibri" pitchFamily="34" charset="-120"/>
              </a:rPr>
              <a:t>among employees with under 1 year of tenure</a:t>
            </a:r>
            <a:r>
              <a:rPr lang="en-GB" sz="1300" dirty="0">
                <a:solidFill>
                  <a:srgbClr val="FFFFFF"/>
                </a:solidFill>
                <a:latin typeface="Calibri" pitchFamily="34" charset="0"/>
                <a:ea typeface="Calibri" pitchFamily="34" charset="-122"/>
                <a:cs typeface="Calibri" pitchFamily="34" charset="-120"/>
              </a:rPr>
              <a:t> is by far the highest-risk period for departure. “Tenure” not “satisfaction” not “pay” is the strongest predictor of who leaves in this dataset. </a:t>
            </a:r>
            <a:endParaRPr lang="en-US" sz="1300" dirty="0"/>
          </a:p>
        </p:txBody>
      </p:sp>
      <p:sp>
        <p:nvSpPr>
          <p:cNvPr id="8" name="Shape 5"/>
          <p:cNvSpPr/>
          <p:nvPr/>
        </p:nvSpPr>
        <p:spPr>
          <a:xfrm>
            <a:off x="8092440" y="4019266"/>
            <a:ext cx="3017520" cy="0"/>
          </a:xfrm>
          <a:prstGeom prst="line">
            <a:avLst/>
          </a:prstGeom>
          <a:noFill/>
          <a:ln w="12700">
            <a:solidFill>
              <a:srgbClr val="34406B"/>
            </a:solidFill>
            <a:prstDash val="solid"/>
          </a:ln>
        </p:spPr>
      </p:sp>
      <p:sp>
        <p:nvSpPr>
          <p:cNvPr id="9" name="Text 6"/>
          <p:cNvSpPr/>
          <p:nvPr/>
        </p:nvSpPr>
        <p:spPr>
          <a:xfrm>
            <a:off x="8092440" y="3977640"/>
            <a:ext cx="3291840" cy="1828800"/>
          </a:xfrm>
          <a:prstGeom prst="rect">
            <a:avLst/>
          </a:prstGeom>
          <a:noFill/>
          <a:ln/>
        </p:spPr>
        <p:txBody>
          <a:bodyPr wrap="square" rtlCol="0" anchor="ctr"/>
          <a:lstStyle/>
          <a:p>
            <a:pPr marL="0" indent="0">
              <a:buNone/>
            </a:pPr>
            <a:r>
              <a:rPr lang="en-GB" sz="1300" i="1" dirty="0">
                <a:solidFill>
                  <a:srgbClr val="CADCFC"/>
                </a:solidFill>
                <a:latin typeface="Calibri" pitchFamily="34" charset="0"/>
                <a:ea typeface="Calibri" pitchFamily="34" charset="-122"/>
                <a:cs typeface="Calibri" pitchFamily="34" charset="-120"/>
              </a:rPr>
              <a:t>Invest unequally in first-year onboarding, 30/60/90-day check-ins, and early mentorship. A small improvement in first-year retention will have a much larger effect on overall attrition than efforts aimed at long-tenured staff.</a:t>
            </a:r>
            <a:endParaRPr lang="en-US" sz="1300" dirty="0"/>
          </a:p>
        </p:txBody>
      </p:sp>
      <p:sp>
        <p:nvSpPr>
          <p:cNvPr id="10" name="Text 7"/>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592B5"/>
                </a:solidFill>
                <a:latin typeface="Calibri" pitchFamily="34" charset="0"/>
                <a:ea typeface="Calibri" pitchFamily="34" charset="-122"/>
                <a:cs typeface="Calibri" pitchFamily="34" charset="-120"/>
              </a:rPr>
              <a:t>HR Workforce Analytics</a:t>
            </a:r>
            <a:endParaRPr lang="en-US" sz="900" dirty="0"/>
          </a:p>
        </p:txBody>
      </p:sp>
      <p:sp>
        <p:nvSpPr>
          <p:cNvPr id="11" name="Text 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8592B5"/>
                </a:solidFill>
                <a:latin typeface="Calibri" pitchFamily="34" charset="0"/>
                <a:ea typeface="Calibri" pitchFamily="34" charset="-122"/>
                <a:cs typeface="Calibri" pitchFamily="34" charset="-120"/>
              </a:rPr>
              <a:t>9</a:t>
            </a:r>
            <a:endParaRPr lang="en-US" sz="900" dirty="0"/>
          </a:p>
        </p:txBody>
      </p:sp>
      <p:pic>
        <p:nvPicPr>
          <p:cNvPr id="13" name="Picture 12">
            <a:extLst>
              <a:ext uri="{FF2B5EF4-FFF2-40B4-BE49-F238E27FC236}">
                <a16:creationId xmlns:a16="http://schemas.microsoft.com/office/drawing/2014/main" id="{8FEE9491-8267-8A8C-15C0-6F4B5D33E646}"/>
              </a:ext>
            </a:extLst>
          </p:cNvPr>
          <p:cNvPicPr>
            <a:picLocks noChangeAspect="1"/>
          </p:cNvPicPr>
          <p:nvPr/>
        </p:nvPicPr>
        <p:blipFill>
          <a:blip r:embed="rId3"/>
          <a:stretch>
            <a:fillRect/>
          </a:stretch>
        </p:blipFill>
        <p:spPr>
          <a:xfrm>
            <a:off x="548639" y="1783080"/>
            <a:ext cx="6720841" cy="4206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FINDING 5 · PERFORMANCE &amp; PAY</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Performance is consistent; pay gaps are department-specific</a:t>
            </a:r>
            <a:endParaRPr lang="en-US" sz="3000" dirty="0"/>
          </a:p>
        </p:txBody>
      </p:sp>
      <p:sp>
        <p:nvSpPr>
          <p:cNvPr id="4" name="Text 2"/>
          <p:cNvSpPr/>
          <p:nvPr/>
        </p:nvSpPr>
        <p:spPr>
          <a:xfrm>
            <a:off x="457200" y="5653173"/>
            <a:ext cx="5486400" cy="546458"/>
          </a:xfrm>
          <a:prstGeom prst="rect">
            <a:avLst/>
          </a:prstGeom>
          <a:noFill/>
          <a:ln/>
        </p:spPr>
        <p:txBody>
          <a:bodyPr wrap="square" rtlCol="0" anchor="ctr"/>
          <a:lstStyle/>
          <a:p>
            <a:pPr marL="0" indent="0">
              <a:buNone/>
            </a:pPr>
            <a:r>
              <a:rPr lang="en-GB" sz="1400" dirty="0"/>
              <a:t>The performance spread across departments is narrow, suggesting there is no single underperforming department.</a:t>
            </a:r>
            <a:endParaRPr lang="en-US" sz="1400" dirty="0"/>
          </a:p>
        </p:txBody>
      </p:sp>
      <p:sp>
        <p:nvSpPr>
          <p:cNvPr id="6" name="Text 3"/>
          <p:cNvSpPr/>
          <p:nvPr/>
        </p:nvSpPr>
        <p:spPr>
          <a:xfrm>
            <a:off x="6303390" y="5378853"/>
            <a:ext cx="5212080" cy="820778"/>
          </a:xfrm>
          <a:prstGeom prst="rect">
            <a:avLst/>
          </a:prstGeom>
          <a:noFill/>
          <a:ln/>
        </p:spPr>
        <p:txBody>
          <a:bodyPr wrap="square" rtlCol="0" anchor="ctr"/>
          <a:lstStyle/>
          <a:p>
            <a:pPr marL="0" indent="0">
              <a:buNone/>
            </a:pPr>
            <a:r>
              <a:rPr lang="en-GB" sz="1400" dirty="0"/>
              <a:t>A moderate, department-dependent pay gap exists rather than a uniform, organization-wide one</a:t>
            </a:r>
            <a:endParaRPr lang="en-US" sz="1400" dirty="0"/>
          </a:p>
        </p:txBody>
      </p:sp>
      <p:sp>
        <p:nvSpPr>
          <p:cNvPr id="8" name="Text 4"/>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64708A"/>
                </a:solidFill>
                <a:latin typeface="Calibri" pitchFamily="34" charset="0"/>
                <a:ea typeface="Calibri" pitchFamily="34" charset="-122"/>
                <a:cs typeface="Calibri" pitchFamily="34" charset="-120"/>
              </a:rPr>
              <a:t>HR Workforce Analytics</a:t>
            </a:r>
            <a:endParaRPr lang="en-US" sz="900" dirty="0"/>
          </a:p>
        </p:txBody>
      </p:sp>
      <p:sp>
        <p:nvSpPr>
          <p:cNvPr id="9" name="Text 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4708A"/>
                </a:solidFill>
                <a:latin typeface="Calibri" pitchFamily="34" charset="0"/>
                <a:ea typeface="Calibri" pitchFamily="34" charset="-122"/>
                <a:cs typeface="Calibri" pitchFamily="34" charset="-120"/>
              </a:rPr>
              <a:t>10</a:t>
            </a:r>
            <a:endParaRPr lang="en-US" sz="900" dirty="0"/>
          </a:p>
        </p:txBody>
      </p:sp>
      <p:pic>
        <p:nvPicPr>
          <p:cNvPr id="11" name="Picture 10">
            <a:extLst>
              <a:ext uri="{FF2B5EF4-FFF2-40B4-BE49-F238E27FC236}">
                <a16:creationId xmlns:a16="http://schemas.microsoft.com/office/drawing/2014/main" id="{8375FF90-56B0-4217-8352-D6A404BF5D93}"/>
              </a:ext>
            </a:extLst>
          </p:cNvPr>
          <p:cNvPicPr>
            <a:picLocks noChangeAspect="1"/>
          </p:cNvPicPr>
          <p:nvPr/>
        </p:nvPicPr>
        <p:blipFill>
          <a:blip r:embed="rId3"/>
          <a:stretch>
            <a:fillRect/>
          </a:stretch>
        </p:blipFill>
        <p:spPr>
          <a:xfrm>
            <a:off x="457199" y="1508759"/>
            <a:ext cx="5379721" cy="3840481"/>
          </a:xfrm>
          <a:prstGeom prst="rect">
            <a:avLst/>
          </a:prstGeom>
        </p:spPr>
      </p:pic>
      <p:pic>
        <p:nvPicPr>
          <p:cNvPr id="13" name="Picture 12">
            <a:extLst>
              <a:ext uri="{FF2B5EF4-FFF2-40B4-BE49-F238E27FC236}">
                <a16:creationId xmlns:a16="http://schemas.microsoft.com/office/drawing/2014/main" id="{3CD153C6-9EA4-65E7-E79A-159A3B74BEF2}"/>
              </a:ext>
            </a:extLst>
          </p:cNvPr>
          <p:cNvPicPr>
            <a:picLocks noChangeAspect="1"/>
          </p:cNvPicPr>
          <p:nvPr/>
        </p:nvPicPr>
        <p:blipFill>
          <a:blip r:embed="rId4"/>
          <a:stretch>
            <a:fillRect/>
          </a:stretch>
        </p:blipFill>
        <p:spPr>
          <a:xfrm>
            <a:off x="6315709" y="1532574"/>
            <a:ext cx="5187443" cy="37928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FINDING 6 &amp; 7 · CONDUCT AND SENTIMENT</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Sales Department shows the most conduct risk; satisfaction doesn't predict exits</a:t>
            </a:r>
            <a:endParaRPr lang="en-US" sz="3000" dirty="0"/>
          </a:p>
        </p:txBody>
      </p:sp>
      <p:sp>
        <p:nvSpPr>
          <p:cNvPr id="5" name="Text 3"/>
          <p:cNvSpPr/>
          <p:nvPr/>
        </p:nvSpPr>
        <p:spPr>
          <a:xfrm>
            <a:off x="1188720" y="1636395"/>
            <a:ext cx="4754880" cy="274320"/>
          </a:xfrm>
          <a:prstGeom prst="rect">
            <a:avLst/>
          </a:prstGeom>
          <a:noFill/>
          <a:ln/>
        </p:spPr>
        <p:txBody>
          <a:bodyPr wrap="square" rtlCol="0" anchor="ctr"/>
          <a:lstStyle/>
          <a:p>
            <a:pPr marL="0" indent="0">
              <a:buNone/>
            </a:pPr>
            <a:r>
              <a:rPr lang="en-US" sz="1150" b="1" kern="0" spc="100" dirty="0">
                <a:solidFill>
                  <a:srgbClr val="C9A227"/>
                </a:solidFill>
                <a:latin typeface="Calibri" pitchFamily="34" charset="0"/>
                <a:ea typeface="Calibri" pitchFamily="34" charset="-122"/>
                <a:cs typeface="Calibri" pitchFamily="34" charset="-120"/>
              </a:rPr>
              <a:t>AVG. ABSENCES BY DEPARTMENT (DAYS/YEAR)</a:t>
            </a:r>
            <a:endParaRPr lang="en-US" sz="1150" dirty="0"/>
          </a:p>
        </p:txBody>
      </p:sp>
      <p:sp>
        <p:nvSpPr>
          <p:cNvPr id="12" name="Text 10"/>
          <p:cNvSpPr/>
          <p:nvPr/>
        </p:nvSpPr>
        <p:spPr>
          <a:xfrm>
            <a:off x="868680" y="3520440"/>
            <a:ext cx="3017520" cy="384048"/>
          </a:xfrm>
          <a:prstGeom prst="rect">
            <a:avLst/>
          </a:prstGeom>
          <a:noFill/>
          <a:ln/>
        </p:spPr>
        <p:txBody>
          <a:bodyPr wrap="square" rtlCol="0" anchor="ctr"/>
          <a:lstStyle/>
          <a:p>
            <a:pPr marL="0" indent="0">
              <a:buNone/>
            </a:pPr>
            <a:endParaRPr lang="en-US" sz="1300" dirty="0"/>
          </a:p>
        </p:txBody>
      </p:sp>
      <p:sp>
        <p:nvSpPr>
          <p:cNvPr id="25" name="Text 23"/>
          <p:cNvSpPr/>
          <p:nvPr/>
        </p:nvSpPr>
        <p:spPr>
          <a:xfrm>
            <a:off x="6049564" y="5221604"/>
            <a:ext cx="4846320" cy="636936"/>
          </a:xfrm>
          <a:prstGeom prst="rect">
            <a:avLst/>
          </a:prstGeom>
          <a:noFill/>
          <a:ln/>
        </p:spPr>
        <p:txBody>
          <a:bodyPr wrap="square" rtlCol="0" anchor="ctr"/>
          <a:lstStyle/>
          <a:p>
            <a:pPr marL="0" indent="0">
              <a:buNone/>
            </a:pPr>
            <a:r>
              <a:rPr lang="en-GB" sz="1400" dirty="0"/>
              <a:t>Relying on satisfaction scores alone as an early-warning system for attrition would miss the great majority of at-risk employees.</a:t>
            </a:r>
            <a:endParaRPr lang="en-US" sz="1400" dirty="0"/>
          </a:p>
        </p:txBody>
      </p:sp>
      <p:sp>
        <p:nvSpPr>
          <p:cNvPr id="27" name="Text 24"/>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64708A"/>
                </a:solidFill>
                <a:latin typeface="Calibri" pitchFamily="34" charset="0"/>
                <a:ea typeface="Calibri" pitchFamily="34" charset="-122"/>
                <a:cs typeface="Calibri" pitchFamily="34" charset="-120"/>
              </a:rPr>
              <a:t>HR Workforce Analytics</a:t>
            </a:r>
            <a:endParaRPr lang="en-US" sz="900" dirty="0"/>
          </a:p>
        </p:txBody>
      </p:sp>
      <p:sp>
        <p:nvSpPr>
          <p:cNvPr id="28" name="Text 2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4708A"/>
                </a:solidFill>
                <a:latin typeface="Calibri" pitchFamily="34" charset="0"/>
                <a:ea typeface="Calibri" pitchFamily="34" charset="-122"/>
                <a:cs typeface="Calibri" pitchFamily="34" charset="-120"/>
              </a:rPr>
              <a:t>11</a:t>
            </a:r>
            <a:endParaRPr lang="en-US" sz="900" dirty="0"/>
          </a:p>
        </p:txBody>
      </p:sp>
      <p:pic>
        <p:nvPicPr>
          <p:cNvPr id="32" name="Picture 31">
            <a:extLst>
              <a:ext uri="{FF2B5EF4-FFF2-40B4-BE49-F238E27FC236}">
                <a16:creationId xmlns:a16="http://schemas.microsoft.com/office/drawing/2014/main" id="{74432447-1E5F-A446-AEE3-930AEB3F8CA1}"/>
              </a:ext>
            </a:extLst>
          </p:cNvPr>
          <p:cNvPicPr>
            <a:picLocks noChangeAspect="1"/>
          </p:cNvPicPr>
          <p:nvPr/>
        </p:nvPicPr>
        <p:blipFill>
          <a:blip r:embed="rId3"/>
          <a:stretch>
            <a:fillRect/>
          </a:stretch>
        </p:blipFill>
        <p:spPr>
          <a:xfrm>
            <a:off x="746472" y="1908516"/>
            <a:ext cx="4608448" cy="3223847"/>
          </a:xfrm>
          <a:prstGeom prst="rect">
            <a:avLst/>
          </a:prstGeom>
        </p:spPr>
      </p:pic>
      <p:pic>
        <p:nvPicPr>
          <p:cNvPr id="34" name="Picture 33">
            <a:extLst>
              <a:ext uri="{FF2B5EF4-FFF2-40B4-BE49-F238E27FC236}">
                <a16:creationId xmlns:a16="http://schemas.microsoft.com/office/drawing/2014/main" id="{B2777713-E0F6-F2B7-1BBF-953DB5C799A1}"/>
              </a:ext>
            </a:extLst>
          </p:cNvPr>
          <p:cNvPicPr>
            <a:picLocks noChangeAspect="1"/>
          </p:cNvPicPr>
          <p:nvPr/>
        </p:nvPicPr>
        <p:blipFill>
          <a:blip r:embed="rId4"/>
          <a:stretch>
            <a:fillRect/>
          </a:stretch>
        </p:blipFill>
        <p:spPr>
          <a:xfrm>
            <a:off x="6096649" y="1900380"/>
            <a:ext cx="4906631" cy="3223847"/>
          </a:xfrm>
          <a:prstGeom prst="rect">
            <a:avLst/>
          </a:prstGeom>
        </p:spPr>
      </p:pic>
      <p:sp>
        <p:nvSpPr>
          <p:cNvPr id="35" name="TextBox 34">
            <a:extLst>
              <a:ext uri="{FF2B5EF4-FFF2-40B4-BE49-F238E27FC236}">
                <a16:creationId xmlns:a16="http://schemas.microsoft.com/office/drawing/2014/main" id="{44AB548B-3A83-AEE6-3945-DA096556F5E9}"/>
              </a:ext>
            </a:extLst>
          </p:cNvPr>
          <p:cNvSpPr txBox="1"/>
          <p:nvPr/>
        </p:nvSpPr>
        <p:spPr>
          <a:xfrm>
            <a:off x="746472" y="5221605"/>
            <a:ext cx="4608448" cy="523220"/>
          </a:xfrm>
          <a:prstGeom prst="rect">
            <a:avLst/>
          </a:prstGeom>
          <a:noFill/>
        </p:spPr>
        <p:txBody>
          <a:bodyPr wrap="square" rtlCol="0">
            <a:spAutoFit/>
          </a:bodyPr>
          <a:lstStyle/>
          <a:p>
            <a:pPr algn="just"/>
            <a:r>
              <a:rPr lang="en-GB" sz="1400" dirty="0"/>
              <a:t>Sales combines the lowest average performance score with the highest absenteeism and lateness</a:t>
            </a:r>
            <a:endParaRPr lang="en-NG"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FINDING 8 · MANAGEMENT</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High performance and low turnover don't always travel together</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7498080" cy="4169664"/>
        </p:xfrm>
        <a:graphic>
          <a:graphicData uri="http://schemas.openxmlformats.org/drawingml/2006/table">
            <a:tbl>
              <a:tblPr/>
              <a:tblGrid>
                <a:gridCol w="26517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52120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Manager</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Team Size</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Avg. Performance</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Turnover</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21208">
                <a:tc>
                  <a:txBody>
                    <a:bodyPr/>
                    <a:lstStyle/>
                    <a:p>
                      <a:pPr marL="0" indent="0" algn="l">
                        <a:buNone/>
                      </a:pPr>
                      <a:r>
                        <a:rPr lang="en-US" sz="1300" dirty="0">
                          <a:solidFill>
                            <a:srgbClr val="1B2440"/>
                          </a:solidFill>
                          <a:latin typeface="Calibri" pitchFamily="34" charset="0"/>
                          <a:ea typeface="Calibri" pitchFamily="34" charset="-122"/>
                          <a:cs typeface="Calibri" pitchFamily="34" charset="-120"/>
                        </a:rPr>
                        <a:t>Jennifer Zamora</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dirty="0">
                          <a:solidFill>
                            <a:srgbClr val="1B2440"/>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dirty="0">
                          <a:solidFill>
                            <a:srgbClr val="1B2440"/>
                          </a:solidFill>
                          <a:latin typeface="Calibri" pitchFamily="34" charset="0"/>
                          <a:ea typeface="Calibri" pitchFamily="34" charset="-122"/>
                          <a:cs typeface="Calibri" pitchFamily="34" charset="-120"/>
                        </a:rPr>
                        <a:t>3.14</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b="1" dirty="0">
                          <a:solidFill>
                            <a:srgbClr val="3E9C6E"/>
                          </a:solidFill>
                          <a:latin typeface="Calibri" pitchFamily="34" charset="0"/>
                          <a:ea typeface="Calibri" pitchFamily="34" charset="-122"/>
                          <a:cs typeface="Calibri" pitchFamily="34" charset="-120"/>
                        </a:rPr>
                        <a:t>14.3%</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extLst>
                  <a:ext uri="{0D108BD9-81ED-4DB2-BD59-A6C34878D82A}">
                    <a16:rowId xmlns:a16="http://schemas.microsoft.com/office/drawing/2014/main" val="10001"/>
                  </a:ext>
                </a:extLst>
              </a:tr>
              <a:tr h="521208">
                <a:tc>
                  <a:txBody>
                    <a:bodyPr/>
                    <a:lstStyle/>
                    <a:p>
                      <a:pPr marL="0" indent="0" algn="l">
                        <a:buNone/>
                      </a:pPr>
                      <a:r>
                        <a:rPr lang="en-US" sz="1300" dirty="0">
                          <a:solidFill>
                            <a:srgbClr val="1B2440"/>
                          </a:solidFill>
                          <a:latin typeface="Calibri" pitchFamily="34" charset="0"/>
                          <a:ea typeface="Calibri" pitchFamily="34" charset="-122"/>
                          <a:cs typeface="Calibri" pitchFamily="34" charset="-120"/>
                        </a:rPr>
                        <a:t>Simon Roup</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dirty="0">
                          <a:solidFill>
                            <a:srgbClr val="1B2440"/>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dirty="0">
                          <a:solidFill>
                            <a:srgbClr val="1B2440"/>
                          </a:solidFill>
                          <a:latin typeface="Calibri" pitchFamily="34" charset="0"/>
                          <a:ea typeface="Calibri" pitchFamily="34" charset="-122"/>
                          <a:cs typeface="Calibri" pitchFamily="34" charset="-120"/>
                        </a:rPr>
                        <a:t>3.12</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dirty="0">
                          <a:solidFill>
                            <a:srgbClr val="C0453A"/>
                          </a:solidFill>
                          <a:latin typeface="Calibri" pitchFamily="34" charset="0"/>
                          <a:ea typeface="Calibri" pitchFamily="34" charset="-122"/>
                          <a:cs typeface="Calibri" pitchFamily="34" charset="-120"/>
                        </a:rPr>
                        <a:t>47.1%</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extLst>
                  <a:ext uri="{0D108BD9-81ED-4DB2-BD59-A6C34878D82A}">
                    <a16:rowId xmlns:a16="http://schemas.microsoft.com/office/drawing/2014/main" val="10002"/>
                  </a:ext>
                </a:extLst>
              </a:tr>
              <a:tr h="521208">
                <a:tc>
                  <a:txBody>
                    <a:bodyPr/>
                    <a:lstStyle/>
                    <a:p>
                      <a:pPr marL="0" indent="0" algn="l">
                        <a:buNone/>
                      </a:pPr>
                      <a:r>
                        <a:rPr lang="en-US" sz="1300" dirty="0">
                          <a:solidFill>
                            <a:srgbClr val="1B2440"/>
                          </a:solidFill>
                          <a:latin typeface="Calibri" pitchFamily="34" charset="0"/>
                          <a:ea typeface="Calibri" pitchFamily="34" charset="-122"/>
                          <a:cs typeface="Calibri" pitchFamily="34" charset="-120"/>
                        </a:rPr>
                        <a:t>Janet King</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dirty="0">
                          <a:solidFill>
                            <a:srgbClr val="1B2440"/>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dirty="0">
                          <a:solidFill>
                            <a:srgbClr val="1B2440"/>
                          </a:solidFill>
                          <a:latin typeface="Calibri" pitchFamily="34" charset="0"/>
                          <a:ea typeface="Calibri" pitchFamily="34" charset="-122"/>
                          <a:cs typeface="Calibri" pitchFamily="34" charset="-120"/>
                        </a:rPr>
                        <a:t>3.11</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31.6%</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extLst>
                  <a:ext uri="{0D108BD9-81ED-4DB2-BD59-A6C34878D82A}">
                    <a16:rowId xmlns:a16="http://schemas.microsoft.com/office/drawing/2014/main" val="10003"/>
                  </a:ext>
                </a:extLst>
              </a:tr>
              <a:tr h="521208">
                <a:tc>
                  <a:txBody>
                    <a:bodyPr/>
                    <a:lstStyle/>
                    <a:p>
                      <a:pPr marL="0" indent="0" algn="l">
                        <a:buNone/>
                      </a:pPr>
                      <a:r>
                        <a:rPr lang="en-US" sz="1300" dirty="0">
                          <a:solidFill>
                            <a:srgbClr val="1B2440"/>
                          </a:solidFill>
                          <a:latin typeface="Calibri" pitchFamily="34" charset="0"/>
                          <a:ea typeface="Calibri" pitchFamily="34" charset="-122"/>
                          <a:cs typeface="Calibri" pitchFamily="34" charset="-120"/>
                        </a:rPr>
                        <a:t>Brian Champaigne</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dirty="0">
                          <a:solidFill>
                            <a:srgbClr val="1B2440"/>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dirty="0">
                          <a:solidFill>
                            <a:srgbClr val="1B2440"/>
                          </a:solidFill>
                          <a:latin typeface="Calibri" pitchFamily="34" charset="0"/>
                          <a:ea typeface="Calibri" pitchFamily="34" charset="-122"/>
                          <a:cs typeface="Calibri" pitchFamily="34" charset="-120"/>
                        </a:rPr>
                        <a:t>3.00</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b="1" dirty="0">
                          <a:solidFill>
                            <a:srgbClr val="3E9C6E"/>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extLst>
                  <a:ext uri="{0D108BD9-81ED-4DB2-BD59-A6C34878D82A}">
                    <a16:rowId xmlns:a16="http://schemas.microsoft.com/office/drawing/2014/main" val="10004"/>
                  </a:ext>
                </a:extLst>
              </a:tr>
              <a:tr h="521208">
                <a:tc>
                  <a:txBody>
                    <a:bodyPr/>
                    <a:lstStyle/>
                    <a:p>
                      <a:pPr marL="0" indent="0" algn="l">
                        <a:buNone/>
                      </a:pPr>
                      <a:r>
                        <a:rPr lang="en-US" sz="1300" dirty="0">
                          <a:solidFill>
                            <a:srgbClr val="1B2440"/>
                          </a:solidFill>
                          <a:latin typeface="Calibri" pitchFamily="34" charset="0"/>
                          <a:ea typeface="Calibri" pitchFamily="34" charset="-122"/>
                          <a:cs typeface="Calibri" pitchFamily="34" charset="-120"/>
                        </a:rPr>
                        <a:t>Webster Butler</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dirty="0">
                          <a:solidFill>
                            <a:srgbClr val="1B2440"/>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dirty="0">
                          <a:solidFill>
                            <a:srgbClr val="1B2440"/>
                          </a:solidFill>
                          <a:latin typeface="Calibri" pitchFamily="34" charset="0"/>
                          <a:ea typeface="Calibri" pitchFamily="34" charset="-122"/>
                          <a:cs typeface="Calibri" pitchFamily="34" charset="-120"/>
                        </a:rPr>
                        <a:t>3.00</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b="1" dirty="0">
                          <a:solidFill>
                            <a:srgbClr val="C0453A"/>
                          </a:solidFill>
                          <a:latin typeface="Calibri" pitchFamily="34" charset="0"/>
                          <a:ea typeface="Calibri" pitchFamily="34" charset="-122"/>
                          <a:cs typeface="Calibri" pitchFamily="34" charset="-120"/>
                        </a:rPr>
                        <a:t>61.9%</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extLst>
                  <a:ext uri="{0D108BD9-81ED-4DB2-BD59-A6C34878D82A}">
                    <a16:rowId xmlns:a16="http://schemas.microsoft.com/office/drawing/2014/main" val="10005"/>
                  </a:ext>
                </a:extLst>
              </a:tr>
              <a:tr h="521208">
                <a:tc>
                  <a:txBody>
                    <a:bodyPr/>
                    <a:lstStyle/>
                    <a:p>
                      <a:pPr marL="0" indent="0" algn="l">
                        <a:buNone/>
                      </a:pPr>
                      <a:r>
                        <a:rPr lang="en-US" sz="1300" dirty="0">
                          <a:solidFill>
                            <a:srgbClr val="1B2440"/>
                          </a:solidFill>
                          <a:latin typeface="Calibri" pitchFamily="34" charset="0"/>
                          <a:ea typeface="Calibri" pitchFamily="34" charset="-122"/>
                          <a:cs typeface="Calibri" pitchFamily="34" charset="-120"/>
                        </a:rPr>
                        <a:t>Amy Dunn</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dirty="0">
                          <a:solidFill>
                            <a:srgbClr val="1B2440"/>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dirty="0">
                          <a:solidFill>
                            <a:srgbClr val="1B2440"/>
                          </a:solidFill>
                          <a:latin typeface="Calibri" pitchFamily="34" charset="0"/>
                          <a:ea typeface="Calibri" pitchFamily="34" charset="-122"/>
                          <a:cs typeface="Calibri" pitchFamily="34" charset="-120"/>
                        </a:rPr>
                        <a:t>2.90</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b="1" dirty="0">
                          <a:solidFill>
                            <a:srgbClr val="C0453A"/>
                          </a:solidFill>
                          <a:latin typeface="Calibri" pitchFamily="34" charset="0"/>
                          <a:ea typeface="Calibri" pitchFamily="34" charset="-122"/>
                          <a:cs typeface="Calibri" pitchFamily="34" charset="-120"/>
                        </a:rPr>
                        <a:t>61.9%</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extLst>
                  <a:ext uri="{0D108BD9-81ED-4DB2-BD59-A6C34878D82A}">
                    <a16:rowId xmlns:a16="http://schemas.microsoft.com/office/drawing/2014/main" val="10006"/>
                  </a:ext>
                </a:extLst>
              </a:tr>
              <a:tr h="521208">
                <a:tc>
                  <a:txBody>
                    <a:bodyPr/>
                    <a:lstStyle/>
                    <a:p>
                      <a:pPr marL="0" indent="0" algn="l">
                        <a:buNone/>
                      </a:pPr>
                      <a:r>
                        <a:rPr lang="en-US" sz="1300" dirty="0">
                          <a:solidFill>
                            <a:srgbClr val="1B2440"/>
                          </a:solidFill>
                          <a:latin typeface="Calibri" pitchFamily="34" charset="0"/>
                          <a:ea typeface="Calibri" pitchFamily="34" charset="-122"/>
                          <a:cs typeface="Calibri" pitchFamily="34" charset="-120"/>
                        </a:rPr>
                        <a:t>John Smith</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dirty="0">
                          <a:solidFill>
                            <a:srgbClr val="1B2440"/>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dirty="0">
                          <a:solidFill>
                            <a:srgbClr val="1B2440"/>
                          </a:solidFill>
                          <a:latin typeface="Calibri" pitchFamily="34" charset="0"/>
                          <a:ea typeface="Calibri" pitchFamily="34" charset="-122"/>
                          <a:cs typeface="Calibri" pitchFamily="34" charset="-120"/>
                        </a:rPr>
                        <a:t>2.71</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21.4%</a:t>
                      </a:r>
                      <a:endParaRPr lang="en-US" sz="1300" dirty="0">
                        <a:latin typeface="Calibri" charset="0"/>
                        <a:ea typeface="Calibri" charset="0"/>
                        <a:cs typeface="Calibri" charset="0"/>
                      </a:endParaRPr>
                    </a:p>
                  </a:txBody>
                  <a:tcPr anchor="ctr">
                    <a:lnL w="6350" cap="flat" cmpd="sng" algn="ctr">
                      <a:solidFill>
                        <a:srgbClr val="E2E6EF"/>
                      </a:solidFill>
                      <a:prstDash val="solid"/>
                      <a:round/>
                      <a:headEnd type="none" w="med" len="med"/>
                      <a:tailEnd type="none" w="med" len="med"/>
                    </a:lnL>
                    <a:lnR w="6350" cap="flat" cmpd="sng" algn="ctr">
                      <a:solidFill>
                        <a:srgbClr val="E2E6EF"/>
                      </a:solidFill>
                      <a:prstDash val="solid"/>
                      <a:round/>
                      <a:headEnd type="none" w="med" len="med"/>
                      <a:tailEnd type="none" w="med" len="med"/>
                    </a:lnR>
                    <a:lnT w="6350" cap="flat" cmpd="sng" algn="ctr">
                      <a:solidFill>
                        <a:srgbClr val="E2E6EF"/>
                      </a:solidFill>
                      <a:prstDash val="solid"/>
                      <a:round/>
                      <a:headEnd type="none" w="med" len="med"/>
                      <a:tailEnd type="none" w="med" len="med"/>
                    </a:lnT>
                    <a:lnB w="6350" cap="flat" cmpd="sng" algn="ctr">
                      <a:solidFill>
                        <a:srgbClr val="E2E6E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8275320" y="1783080"/>
            <a:ext cx="3383280" cy="4160520"/>
          </a:xfrm>
          <a:prstGeom prst="roundRect">
            <a:avLst>
              <a:gd name="adj" fmla="val 2162"/>
            </a:avLst>
          </a:prstGeom>
          <a:solidFill>
            <a:srgbClr val="FFFFFF"/>
          </a:solidFill>
          <a:ln/>
          <a:effectLst>
            <a:outerShdw blurRad="101600" dist="38100" dir="5400000" algn="bl" rotWithShape="0">
              <a:srgbClr val="000000">
                <a:alpha val="12000"/>
              </a:srgbClr>
            </a:outerShdw>
          </a:effectLst>
        </p:spPr>
      </p:sp>
      <p:sp>
        <p:nvSpPr>
          <p:cNvPr id="6" name="Text 3"/>
          <p:cNvSpPr/>
          <p:nvPr/>
        </p:nvSpPr>
        <p:spPr>
          <a:xfrm>
            <a:off x="8549640" y="2011680"/>
            <a:ext cx="2834640" cy="274320"/>
          </a:xfrm>
          <a:prstGeom prst="rect">
            <a:avLst/>
          </a:prstGeom>
          <a:noFill/>
          <a:ln/>
        </p:spPr>
        <p:txBody>
          <a:bodyPr wrap="square" rtlCol="0" anchor="ctr"/>
          <a:lstStyle/>
          <a:p>
            <a:pPr marL="0" indent="0">
              <a:buNone/>
            </a:pPr>
            <a:r>
              <a:rPr lang="en-US" sz="1150" b="1" kern="0" spc="150" dirty="0">
                <a:solidFill>
                  <a:srgbClr val="C9A227"/>
                </a:solidFill>
                <a:latin typeface="Calibri" pitchFamily="34" charset="0"/>
                <a:ea typeface="Calibri" pitchFamily="34" charset="-122"/>
                <a:cs typeface="Calibri" pitchFamily="34" charset="-120"/>
              </a:rPr>
              <a:t>TAKEAWAY</a:t>
            </a:r>
            <a:endParaRPr lang="en-US" sz="1150" dirty="0"/>
          </a:p>
        </p:txBody>
      </p:sp>
      <p:sp>
        <p:nvSpPr>
          <p:cNvPr id="7" name="Text 4"/>
          <p:cNvSpPr/>
          <p:nvPr/>
        </p:nvSpPr>
        <p:spPr>
          <a:xfrm>
            <a:off x="8549640" y="2377440"/>
            <a:ext cx="2834640" cy="1097280"/>
          </a:xfrm>
          <a:prstGeom prst="rect">
            <a:avLst/>
          </a:prstGeom>
          <a:noFill/>
          <a:ln/>
        </p:spPr>
        <p:txBody>
          <a:bodyPr wrap="square" rtlCol="0" anchor="ctr"/>
          <a:lstStyle/>
          <a:p>
            <a:pPr marL="0" indent="0">
              <a:buNone/>
            </a:pPr>
            <a:r>
              <a:rPr lang="en-US" sz="1250" dirty="0">
                <a:solidFill>
                  <a:srgbClr val="1B2440"/>
                </a:solidFill>
                <a:latin typeface="Calibri" pitchFamily="34" charset="0"/>
                <a:ea typeface="Calibri" pitchFamily="34" charset="-122"/>
                <a:cs typeface="Calibri" pitchFamily="34" charset="-120"/>
              </a:rPr>
              <a:t>Jennifer Zamora combines the strongest performance (3.14) with the lowest turnover (14.3%).</a:t>
            </a:r>
            <a:endParaRPr lang="en-US" sz="1250" dirty="0"/>
          </a:p>
        </p:txBody>
      </p:sp>
      <p:sp>
        <p:nvSpPr>
          <p:cNvPr id="8" name="Text 5"/>
          <p:cNvSpPr/>
          <p:nvPr/>
        </p:nvSpPr>
        <p:spPr>
          <a:xfrm>
            <a:off x="8549640" y="3566160"/>
            <a:ext cx="2834640" cy="1554480"/>
          </a:xfrm>
          <a:prstGeom prst="rect">
            <a:avLst/>
          </a:prstGeom>
          <a:noFill/>
          <a:ln/>
        </p:spPr>
        <p:txBody>
          <a:bodyPr wrap="square" rtlCol="0" anchor="ctr"/>
          <a:lstStyle/>
          <a:p>
            <a:pPr marL="0" indent="0">
              <a:buNone/>
            </a:pPr>
            <a:r>
              <a:rPr lang="en-US" sz="1250" dirty="0">
                <a:solidFill>
                  <a:srgbClr val="1B2440"/>
                </a:solidFill>
                <a:latin typeface="Calibri" pitchFamily="34" charset="0"/>
                <a:ea typeface="Calibri" pitchFamily="34" charset="-122"/>
                <a:cs typeface="Calibri" pitchFamily="34" charset="-120"/>
              </a:rPr>
              <a:t>Webster Butler and Amy Dunn each lose 61.9% of turnover despite average performance which shows us that a retention issue, not a performance issue.</a:t>
            </a:r>
            <a:endParaRPr lang="en-US" sz="1250" dirty="0"/>
          </a:p>
        </p:txBody>
      </p:sp>
      <p:sp>
        <p:nvSpPr>
          <p:cNvPr id="9" name="Text 6"/>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64708A"/>
                </a:solidFill>
                <a:latin typeface="Calibri" pitchFamily="34" charset="0"/>
                <a:ea typeface="Calibri" pitchFamily="34" charset="-122"/>
                <a:cs typeface="Calibri" pitchFamily="34" charset="-120"/>
              </a:rPr>
              <a:t>HR Workforce Analytics</a:t>
            </a:r>
            <a:endParaRPr lang="en-US" sz="900" dirty="0"/>
          </a:p>
        </p:txBody>
      </p:sp>
      <p:sp>
        <p:nvSpPr>
          <p:cNvPr id="10" name="Text 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4708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PUTTING IT TOGETHER</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Five patterns explain most of what's driving attrition</a:t>
            </a:r>
            <a:endParaRPr lang="en-US" sz="3000" dirty="0"/>
          </a:p>
        </p:txBody>
      </p:sp>
      <p:sp>
        <p:nvSpPr>
          <p:cNvPr id="4" name="Shape 2"/>
          <p:cNvSpPr/>
          <p:nvPr/>
        </p:nvSpPr>
        <p:spPr>
          <a:xfrm>
            <a:off x="548640" y="1965960"/>
            <a:ext cx="2084832" cy="3794760"/>
          </a:xfrm>
          <a:prstGeom prst="roundRect">
            <a:avLst>
              <a:gd name="adj" fmla="val 3509"/>
            </a:avLst>
          </a:prstGeom>
          <a:solidFill>
            <a:srgbClr val="16204A"/>
          </a:solidFill>
          <a:ln/>
        </p:spPr>
      </p:sp>
      <p:sp>
        <p:nvSpPr>
          <p:cNvPr id="5" name="Text 3"/>
          <p:cNvSpPr/>
          <p:nvPr/>
        </p:nvSpPr>
        <p:spPr>
          <a:xfrm>
            <a:off x="713232" y="2148840"/>
            <a:ext cx="1755648" cy="548640"/>
          </a:xfrm>
          <a:prstGeom prst="rect">
            <a:avLst/>
          </a:prstGeom>
          <a:noFill/>
          <a:ln/>
        </p:spPr>
        <p:txBody>
          <a:bodyPr wrap="square" rtlCol="0" anchor="ctr"/>
          <a:lstStyle/>
          <a:p>
            <a:pPr marL="0" indent="0">
              <a:buNone/>
            </a:pPr>
            <a:r>
              <a:rPr lang="en-US" sz="2600" b="1" dirty="0">
                <a:solidFill>
                  <a:srgbClr val="C9A227"/>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713232" y="2697480"/>
            <a:ext cx="1755648" cy="41148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Scale</a:t>
            </a:r>
            <a:endParaRPr lang="en-US" sz="1600" dirty="0"/>
          </a:p>
        </p:txBody>
      </p:sp>
      <p:sp>
        <p:nvSpPr>
          <p:cNvPr id="7" name="Text 5"/>
          <p:cNvSpPr/>
          <p:nvPr/>
        </p:nvSpPr>
        <p:spPr>
          <a:xfrm>
            <a:off x="713232" y="3154680"/>
            <a:ext cx="1755648" cy="2468880"/>
          </a:xfrm>
          <a:prstGeom prst="rect">
            <a:avLst/>
          </a:prstGeom>
          <a:noFill/>
          <a:ln/>
        </p:spPr>
        <p:txBody>
          <a:bodyPr wrap="square" rtlCol="0" anchor="ctr"/>
          <a:lstStyle/>
          <a:p>
            <a:pPr marL="0" indent="0">
              <a:buNone/>
            </a:pPr>
            <a:r>
              <a:rPr lang="en-US" sz="1150" dirty="0">
                <a:solidFill>
                  <a:srgbClr val="C7D0E8"/>
                </a:solidFill>
                <a:latin typeface="Calibri" pitchFamily="34" charset="0"/>
                <a:ea typeface="Calibri" pitchFamily="34" charset="-122"/>
                <a:cs typeface="Calibri" pitchFamily="34" charset="-120"/>
              </a:rPr>
              <a:t>Production's size + highest average turnover make it the single biggest lever on company-wide attrition.</a:t>
            </a:r>
            <a:endParaRPr lang="en-US" sz="1150" dirty="0"/>
          </a:p>
        </p:txBody>
      </p:sp>
      <p:sp>
        <p:nvSpPr>
          <p:cNvPr id="8" name="Shape 6"/>
          <p:cNvSpPr/>
          <p:nvPr/>
        </p:nvSpPr>
        <p:spPr>
          <a:xfrm>
            <a:off x="2798064" y="1965960"/>
            <a:ext cx="2084832" cy="3794760"/>
          </a:xfrm>
          <a:prstGeom prst="roundRect">
            <a:avLst>
              <a:gd name="adj" fmla="val 3509"/>
            </a:avLst>
          </a:prstGeom>
          <a:solidFill>
            <a:srgbClr val="16204A"/>
          </a:solidFill>
          <a:ln/>
        </p:spPr>
      </p:sp>
      <p:sp>
        <p:nvSpPr>
          <p:cNvPr id="9" name="Text 7"/>
          <p:cNvSpPr/>
          <p:nvPr/>
        </p:nvSpPr>
        <p:spPr>
          <a:xfrm>
            <a:off x="2962656" y="2148840"/>
            <a:ext cx="1755648" cy="548640"/>
          </a:xfrm>
          <a:prstGeom prst="rect">
            <a:avLst/>
          </a:prstGeom>
          <a:noFill/>
          <a:ln/>
        </p:spPr>
        <p:txBody>
          <a:bodyPr wrap="square" rtlCol="0" anchor="ctr"/>
          <a:lstStyle/>
          <a:p>
            <a:pPr marL="0" indent="0">
              <a:buNone/>
            </a:pPr>
            <a:r>
              <a:rPr lang="en-US" sz="2600" b="1" dirty="0">
                <a:solidFill>
                  <a:srgbClr val="C9A227"/>
                </a:solidFill>
                <a:latin typeface="Cambria" pitchFamily="34" charset="0"/>
                <a:ea typeface="Cambria" pitchFamily="34" charset="-122"/>
                <a:cs typeface="Cambria" pitchFamily="34" charset="-120"/>
              </a:rPr>
              <a:t>02</a:t>
            </a:r>
            <a:endParaRPr lang="en-US" sz="2600" dirty="0"/>
          </a:p>
        </p:txBody>
      </p:sp>
      <p:sp>
        <p:nvSpPr>
          <p:cNvPr id="10" name="Text 8"/>
          <p:cNvSpPr/>
          <p:nvPr/>
        </p:nvSpPr>
        <p:spPr>
          <a:xfrm>
            <a:off x="2962656" y="2697480"/>
            <a:ext cx="1755648" cy="41148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Timing</a:t>
            </a:r>
            <a:endParaRPr lang="en-US" sz="1600" dirty="0"/>
          </a:p>
        </p:txBody>
      </p:sp>
      <p:sp>
        <p:nvSpPr>
          <p:cNvPr id="11" name="Text 9"/>
          <p:cNvSpPr/>
          <p:nvPr/>
        </p:nvSpPr>
        <p:spPr>
          <a:xfrm>
            <a:off x="2962656" y="3154680"/>
            <a:ext cx="1755648" cy="2468880"/>
          </a:xfrm>
          <a:prstGeom prst="rect">
            <a:avLst/>
          </a:prstGeom>
          <a:noFill/>
          <a:ln/>
        </p:spPr>
        <p:txBody>
          <a:bodyPr wrap="square" rtlCol="0" anchor="ctr"/>
          <a:lstStyle/>
          <a:p>
            <a:pPr marL="0" indent="0">
              <a:buNone/>
            </a:pPr>
            <a:r>
              <a:rPr lang="en-US" sz="1150" dirty="0">
                <a:solidFill>
                  <a:srgbClr val="C7D0E8"/>
                </a:solidFill>
                <a:latin typeface="Calibri" pitchFamily="34" charset="0"/>
                <a:ea typeface="Calibri" pitchFamily="34" charset="-122"/>
                <a:cs typeface="Calibri" pitchFamily="34" charset="-120"/>
              </a:rPr>
              <a:t>Attrition is concentrated in workers with 0-1year tenure (90%) which is not spread evenly across other tenure.</a:t>
            </a:r>
            <a:endParaRPr lang="en-US" sz="1150" dirty="0"/>
          </a:p>
        </p:txBody>
      </p:sp>
      <p:sp>
        <p:nvSpPr>
          <p:cNvPr id="12" name="Shape 10"/>
          <p:cNvSpPr/>
          <p:nvPr/>
        </p:nvSpPr>
        <p:spPr>
          <a:xfrm>
            <a:off x="5047488" y="1965960"/>
            <a:ext cx="2084832" cy="3794760"/>
          </a:xfrm>
          <a:prstGeom prst="roundRect">
            <a:avLst>
              <a:gd name="adj" fmla="val 3509"/>
            </a:avLst>
          </a:prstGeom>
          <a:solidFill>
            <a:srgbClr val="16204A"/>
          </a:solidFill>
          <a:ln/>
        </p:spPr>
      </p:sp>
      <p:sp>
        <p:nvSpPr>
          <p:cNvPr id="13" name="Text 11"/>
          <p:cNvSpPr/>
          <p:nvPr/>
        </p:nvSpPr>
        <p:spPr>
          <a:xfrm>
            <a:off x="5212080" y="2148840"/>
            <a:ext cx="1755648" cy="548640"/>
          </a:xfrm>
          <a:prstGeom prst="rect">
            <a:avLst/>
          </a:prstGeom>
          <a:noFill/>
          <a:ln/>
        </p:spPr>
        <p:txBody>
          <a:bodyPr wrap="square" rtlCol="0" anchor="ctr"/>
          <a:lstStyle/>
          <a:p>
            <a:pPr marL="0" indent="0">
              <a:buNone/>
            </a:pPr>
            <a:r>
              <a:rPr lang="en-US" sz="2600" b="1" dirty="0">
                <a:solidFill>
                  <a:srgbClr val="C9A227"/>
                </a:solidFill>
                <a:latin typeface="Cambria" pitchFamily="34" charset="0"/>
                <a:ea typeface="Cambria" pitchFamily="34" charset="-122"/>
                <a:cs typeface="Cambria" pitchFamily="34" charset="-120"/>
              </a:rPr>
              <a:t>03</a:t>
            </a:r>
            <a:endParaRPr lang="en-US" sz="2600" dirty="0"/>
          </a:p>
        </p:txBody>
      </p:sp>
      <p:sp>
        <p:nvSpPr>
          <p:cNvPr id="14" name="Text 12"/>
          <p:cNvSpPr/>
          <p:nvPr/>
        </p:nvSpPr>
        <p:spPr>
          <a:xfrm>
            <a:off x="5212080" y="2697480"/>
            <a:ext cx="1755648" cy="41148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Sourcing</a:t>
            </a:r>
            <a:endParaRPr lang="en-US" sz="1600" dirty="0"/>
          </a:p>
        </p:txBody>
      </p:sp>
      <p:sp>
        <p:nvSpPr>
          <p:cNvPr id="15" name="Text 13"/>
          <p:cNvSpPr/>
          <p:nvPr/>
        </p:nvSpPr>
        <p:spPr>
          <a:xfrm>
            <a:off x="5212080" y="3154680"/>
            <a:ext cx="1755648" cy="2468880"/>
          </a:xfrm>
          <a:prstGeom prst="rect">
            <a:avLst/>
          </a:prstGeom>
          <a:noFill/>
          <a:ln/>
        </p:spPr>
        <p:txBody>
          <a:bodyPr wrap="square" rtlCol="0" anchor="ctr"/>
          <a:lstStyle/>
          <a:p>
            <a:pPr marL="0" indent="0">
              <a:buNone/>
            </a:pPr>
            <a:r>
              <a:rPr lang="en-US" sz="1150" dirty="0">
                <a:solidFill>
                  <a:srgbClr val="C7D0E8"/>
                </a:solidFill>
                <a:latin typeface="Calibri" pitchFamily="34" charset="0"/>
                <a:ea typeface="Calibri" pitchFamily="34" charset="-122"/>
                <a:cs typeface="Calibri" pitchFamily="34" charset="-120"/>
              </a:rPr>
              <a:t>Recruitment channel predicts retention far more than it predicts performance.</a:t>
            </a:r>
            <a:endParaRPr lang="en-US" sz="1150" dirty="0"/>
          </a:p>
        </p:txBody>
      </p:sp>
      <p:sp>
        <p:nvSpPr>
          <p:cNvPr id="16" name="Shape 14"/>
          <p:cNvSpPr/>
          <p:nvPr/>
        </p:nvSpPr>
        <p:spPr>
          <a:xfrm>
            <a:off x="7296912" y="1965960"/>
            <a:ext cx="2084832" cy="3794760"/>
          </a:xfrm>
          <a:prstGeom prst="roundRect">
            <a:avLst>
              <a:gd name="adj" fmla="val 3509"/>
            </a:avLst>
          </a:prstGeom>
          <a:solidFill>
            <a:srgbClr val="16204A"/>
          </a:solidFill>
          <a:ln/>
        </p:spPr>
      </p:sp>
      <p:sp>
        <p:nvSpPr>
          <p:cNvPr id="17" name="Text 15"/>
          <p:cNvSpPr/>
          <p:nvPr/>
        </p:nvSpPr>
        <p:spPr>
          <a:xfrm>
            <a:off x="7461504" y="2148840"/>
            <a:ext cx="1755648" cy="548640"/>
          </a:xfrm>
          <a:prstGeom prst="rect">
            <a:avLst/>
          </a:prstGeom>
          <a:noFill/>
          <a:ln/>
        </p:spPr>
        <p:txBody>
          <a:bodyPr wrap="square" rtlCol="0" anchor="ctr"/>
          <a:lstStyle/>
          <a:p>
            <a:pPr marL="0" indent="0">
              <a:buNone/>
            </a:pPr>
            <a:r>
              <a:rPr lang="en-US" sz="2600" b="1" dirty="0">
                <a:solidFill>
                  <a:srgbClr val="C9A227"/>
                </a:solidFill>
                <a:latin typeface="Cambria" pitchFamily="34" charset="0"/>
                <a:ea typeface="Cambria" pitchFamily="34" charset="-122"/>
                <a:cs typeface="Cambria" pitchFamily="34" charset="-120"/>
              </a:rPr>
              <a:t>04</a:t>
            </a:r>
            <a:endParaRPr lang="en-US" sz="2600" dirty="0"/>
          </a:p>
        </p:txBody>
      </p:sp>
      <p:sp>
        <p:nvSpPr>
          <p:cNvPr id="18" name="Text 16"/>
          <p:cNvSpPr/>
          <p:nvPr/>
        </p:nvSpPr>
        <p:spPr>
          <a:xfrm>
            <a:off x="7461504" y="2697480"/>
            <a:ext cx="1755648" cy="41148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Sentiment</a:t>
            </a:r>
            <a:endParaRPr lang="en-US" sz="1600" dirty="0"/>
          </a:p>
        </p:txBody>
      </p:sp>
      <p:sp>
        <p:nvSpPr>
          <p:cNvPr id="19" name="Text 17"/>
          <p:cNvSpPr/>
          <p:nvPr/>
        </p:nvSpPr>
        <p:spPr>
          <a:xfrm>
            <a:off x="7461504" y="3154680"/>
            <a:ext cx="1755648" cy="2468880"/>
          </a:xfrm>
          <a:prstGeom prst="rect">
            <a:avLst/>
          </a:prstGeom>
          <a:noFill/>
          <a:ln/>
        </p:spPr>
        <p:txBody>
          <a:bodyPr wrap="square" rtlCol="0" anchor="ctr"/>
          <a:lstStyle/>
          <a:p>
            <a:pPr marL="0" indent="0">
              <a:buNone/>
            </a:pPr>
            <a:r>
              <a:rPr lang="en-US" sz="1150" dirty="0">
                <a:solidFill>
                  <a:srgbClr val="C7D0E8"/>
                </a:solidFill>
                <a:latin typeface="Calibri" pitchFamily="34" charset="0"/>
                <a:ea typeface="Calibri" pitchFamily="34" charset="-122"/>
                <a:cs typeface="Calibri" pitchFamily="34" charset="-120"/>
              </a:rPr>
              <a:t>Satisfaction &amp; engagement scores do not predict who leaves, they can't be the early-warning system.</a:t>
            </a:r>
            <a:endParaRPr lang="en-US" sz="1150" dirty="0"/>
          </a:p>
        </p:txBody>
      </p:sp>
      <p:sp>
        <p:nvSpPr>
          <p:cNvPr id="20" name="Shape 18"/>
          <p:cNvSpPr/>
          <p:nvPr/>
        </p:nvSpPr>
        <p:spPr>
          <a:xfrm>
            <a:off x="9546336" y="1965960"/>
            <a:ext cx="2084832" cy="3794760"/>
          </a:xfrm>
          <a:prstGeom prst="roundRect">
            <a:avLst>
              <a:gd name="adj" fmla="val 3509"/>
            </a:avLst>
          </a:prstGeom>
          <a:solidFill>
            <a:srgbClr val="16204A"/>
          </a:solidFill>
          <a:ln/>
        </p:spPr>
      </p:sp>
      <p:sp>
        <p:nvSpPr>
          <p:cNvPr id="21" name="Text 19"/>
          <p:cNvSpPr/>
          <p:nvPr/>
        </p:nvSpPr>
        <p:spPr>
          <a:xfrm>
            <a:off x="9710928" y="2148840"/>
            <a:ext cx="1755648" cy="548640"/>
          </a:xfrm>
          <a:prstGeom prst="rect">
            <a:avLst/>
          </a:prstGeom>
          <a:noFill/>
          <a:ln/>
        </p:spPr>
        <p:txBody>
          <a:bodyPr wrap="square" rtlCol="0" anchor="ctr"/>
          <a:lstStyle/>
          <a:p>
            <a:pPr marL="0" indent="0">
              <a:buNone/>
            </a:pPr>
            <a:r>
              <a:rPr lang="en-US" sz="2600" b="1" dirty="0">
                <a:solidFill>
                  <a:srgbClr val="C9A227"/>
                </a:solidFill>
                <a:latin typeface="Cambria" pitchFamily="34" charset="0"/>
                <a:ea typeface="Cambria" pitchFamily="34" charset="-122"/>
                <a:cs typeface="Cambria" pitchFamily="34" charset="-120"/>
              </a:rPr>
              <a:t>05</a:t>
            </a:r>
            <a:endParaRPr lang="en-US" sz="2600" dirty="0"/>
          </a:p>
        </p:txBody>
      </p:sp>
      <p:sp>
        <p:nvSpPr>
          <p:cNvPr id="22" name="Text 20"/>
          <p:cNvSpPr/>
          <p:nvPr/>
        </p:nvSpPr>
        <p:spPr>
          <a:xfrm>
            <a:off x="9710928" y="2697480"/>
            <a:ext cx="1755648" cy="41148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Pay</a:t>
            </a:r>
            <a:endParaRPr lang="en-US" sz="1600" dirty="0"/>
          </a:p>
        </p:txBody>
      </p:sp>
      <p:sp>
        <p:nvSpPr>
          <p:cNvPr id="23" name="Text 21"/>
          <p:cNvSpPr/>
          <p:nvPr/>
        </p:nvSpPr>
        <p:spPr>
          <a:xfrm>
            <a:off x="9710928" y="3154680"/>
            <a:ext cx="1755648" cy="2468880"/>
          </a:xfrm>
          <a:prstGeom prst="rect">
            <a:avLst/>
          </a:prstGeom>
          <a:noFill/>
          <a:ln/>
        </p:spPr>
        <p:txBody>
          <a:bodyPr wrap="square" rtlCol="0" anchor="ctr"/>
          <a:lstStyle/>
          <a:p>
            <a:pPr marL="0" indent="0">
              <a:buNone/>
            </a:pPr>
            <a:r>
              <a:rPr lang="en-US" sz="1150" dirty="0">
                <a:solidFill>
                  <a:srgbClr val="C7D0E8"/>
                </a:solidFill>
                <a:latin typeface="Calibri" pitchFamily="34" charset="0"/>
                <a:ea typeface="Calibri" pitchFamily="34" charset="-122"/>
                <a:cs typeface="Calibri" pitchFamily="34" charset="-120"/>
              </a:rPr>
              <a:t>A modest, department-specific gender pay gap exists and needs a controlled audit.</a:t>
            </a:r>
            <a:endParaRPr lang="en-US" sz="1150" dirty="0"/>
          </a:p>
        </p:txBody>
      </p:sp>
      <p:sp>
        <p:nvSpPr>
          <p:cNvPr id="24" name="Text 22"/>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592B5"/>
                </a:solidFill>
                <a:latin typeface="Calibri" pitchFamily="34" charset="0"/>
                <a:ea typeface="Calibri" pitchFamily="34" charset="-122"/>
                <a:cs typeface="Calibri" pitchFamily="34" charset="-120"/>
              </a:rPr>
              <a:t>HR Workforce Analytics</a:t>
            </a:r>
            <a:endParaRPr lang="en-US" sz="900" dirty="0"/>
          </a:p>
        </p:txBody>
      </p:sp>
      <p:sp>
        <p:nvSpPr>
          <p:cNvPr id="25" name="Text 2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8592B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RECOMMENDATIONS</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Eight actions, sequenced by impact vs. effort</a:t>
            </a:r>
            <a:endParaRPr lang="en-US" sz="3000" dirty="0"/>
          </a:p>
        </p:txBody>
      </p:sp>
      <p:sp>
        <p:nvSpPr>
          <p:cNvPr id="4" name="Shape 2"/>
          <p:cNvSpPr/>
          <p:nvPr/>
        </p:nvSpPr>
        <p:spPr>
          <a:xfrm>
            <a:off x="548640" y="1783080"/>
            <a:ext cx="5440680" cy="969264"/>
          </a:xfrm>
          <a:prstGeom prst="roundRect">
            <a:avLst>
              <a:gd name="adj" fmla="val 7547"/>
            </a:avLst>
          </a:prstGeom>
          <a:solidFill>
            <a:srgbClr val="FFFFFF"/>
          </a:solidFill>
          <a:ln/>
          <a:effectLst>
            <a:outerShdw blurRad="101600" dist="38100" dir="5400000" algn="bl" rotWithShape="0">
              <a:srgbClr val="000000">
                <a:alpha val="12000"/>
              </a:srgbClr>
            </a:outerShdw>
          </a:effectLst>
        </p:spPr>
      </p:sp>
      <p:sp>
        <p:nvSpPr>
          <p:cNvPr id="5" name="Shape 3"/>
          <p:cNvSpPr/>
          <p:nvPr/>
        </p:nvSpPr>
        <p:spPr>
          <a:xfrm>
            <a:off x="713232" y="2039112"/>
            <a:ext cx="457200" cy="457200"/>
          </a:xfrm>
          <a:prstGeom prst="ellipse">
            <a:avLst/>
          </a:prstGeom>
          <a:solidFill>
            <a:srgbClr val="1E2761"/>
          </a:solidFill>
          <a:ln/>
        </p:spPr>
      </p:sp>
      <p:sp>
        <p:nvSpPr>
          <p:cNvPr id="6" name="Text 4"/>
          <p:cNvSpPr/>
          <p:nvPr/>
        </p:nvSpPr>
        <p:spPr>
          <a:xfrm>
            <a:off x="713232" y="2039112"/>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325880" y="1874520"/>
            <a:ext cx="448056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Fix the first year tenure</a:t>
            </a:r>
            <a:endParaRPr lang="en-US" sz="1350" dirty="0"/>
          </a:p>
        </p:txBody>
      </p:sp>
      <p:sp>
        <p:nvSpPr>
          <p:cNvPr id="8" name="Text 6"/>
          <p:cNvSpPr/>
          <p:nvPr/>
        </p:nvSpPr>
        <p:spPr>
          <a:xfrm>
            <a:off x="1325880" y="2221992"/>
            <a:ext cx="4480560" cy="475488"/>
          </a:xfrm>
          <a:prstGeom prst="rect">
            <a:avLst/>
          </a:prstGeom>
          <a:noFill/>
          <a:ln/>
        </p:spPr>
        <p:txBody>
          <a:bodyPr wrap="square" rtlCol="0" anchor="ctr"/>
          <a:lstStyle/>
          <a:p>
            <a:pPr marL="0" indent="0">
              <a:buNone/>
            </a:pPr>
            <a:r>
              <a:rPr lang="en-US" sz="1100" dirty="0">
                <a:solidFill>
                  <a:srgbClr val="64708A"/>
                </a:solidFill>
                <a:latin typeface="Calibri" pitchFamily="34" charset="0"/>
                <a:ea typeface="Calibri" pitchFamily="34" charset="-122"/>
                <a:cs typeface="Calibri" pitchFamily="34" charset="-120"/>
              </a:rPr>
              <a:t>Structured onboarding with 30/60/90-day check-ins and assigned mentors.</a:t>
            </a:r>
            <a:endParaRPr lang="en-US" sz="1100" dirty="0"/>
          </a:p>
        </p:txBody>
      </p:sp>
      <p:sp>
        <p:nvSpPr>
          <p:cNvPr id="9" name="Shape 7"/>
          <p:cNvSpPr/>
          <p:nvPr/>
        </p:nvSpPr>
        <p:spPr>
          <a:xfrm>
            <a:off x="6172200" y="1783080"/>
            <a:ext cx="5440680" cy="969264"/>
          </a:xfrm>
          <a:prstGeom prst="roundRect">
            <a:avLst>
              <a:gd name="adj" fmla="val 7547"/>
            </a:avLst>
          </a:prstGeom>
          <a:solidFill>
            <a:srgbClr val="FFFFFF"/>
          </a:solidFill>
          <a:ln/>
          <a:effectLst>
            <a:outerShdw blurRad="101600" dist="38100" dir="5400000" algn="bl" rotWithShape="0">
              <a:srgbClr val="000000">
                <a:alpha val="12000"/>
              </a:srgbClr>
            </a:outerShdw>
          </a:effectLst>
        </p:spPr>
      </p:sp>
      <p:sp>
        <p:nvSpPr>
          <p:cNvPr id="10" name="Shape 8"/>
          <p:cNvSpPr/>
          <p:nvPr/>
        </p:nvSpPr>
        <p:spPr>
          <a:xfrm>
            <a:off x="6336792" y="2039112"/>
            <a:ext cx="457200" cy="457200"/>
          </a:xfrm>
          <a:prstGeom prst="ellipse">
            <a:avLst/>
          </a:prstGeom>
          <a:solidFill>
            <a:srgbClr val="1E2761"/>
          </a:solidFill>
          <a:ln/>
        </p:spPr>
      </p:sp>
      <p:sp>
        <p:nvSpPr>
          <p:cNvPr id="11" name="Text 9"/>
          <p:cNvSpPr/>
          <p:nvPr/>
        </p:nvSpPr>
        <p:spPr>
          <a:xfrm>
            <a:off x="6336792" y="2039112"/>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6949440" y="1874520"/>
            <a:ext cx="448056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Launch a Production retention plan</a:t>
            </a:r>
            <a:endParaRPr lang="en-US" sz="1350" dirty="0"/>
          </a:p>
        </p:txBody>
      </p:sp>
      <p:sp>
        <p:nvSpPr>
          <p:cNvPr id="13" name="Text 11"/>
          <p:cNvSpPr/>
          <p:nvPr/>
        </p:nvSpPr>
        <p:spPr>
          <a:xfrm>
            <a:off x="6949440" y="2221992"/>
            <a:ext cx="4480560" cy="475488"/>
          </a:xfrm>
          <a:prstGeom prst="rect">
            <a:avLst/>
          </a:prstGeom>
          <a:noFill/>
          <a:ln/>
        </p:spPr>
        <p:txBody>
          <a:bodyPr wrap="square" rtlCol="0" anchor="ctr"/>
          <a:lstStyle/>
          <a:p>
            <a:pPr marL="0" indent="0">
              <a:buNone/>
            </a:pPr>
            <a:r>
              <a:rPr lang="en-US" sz="1100" dirty="0">
                <a:solidFill>
                  <a:srgbClr val="64708A"/>
                </a:solidFill>
                <a:latin typeface="Calibri" pitchFamily="34" charset="0"/>
                <a:ea typeface="Calibri" pitchFamily="34" charset="-122"/>
                <a:cs typeface="Calibri" pitchFamily="34" charset="-120"/>
              </a:rPr>
              <a:t>Largest headcount and highest turnover. This is the single biggest lever available.</a:t>
            </a:r>
            <a:endParaRPr lang="en-US" sz="1100" dirty="0"/>
          </a:p>
        </p:txBody>
      </p:sp>
      <p:sp>
        <p:nvSpPr>
          <p:cNvPr id="14" name="Shape 12"/>
          <p:cNvSpPr/>
          <p:nvPr/>
        </p:nvSpPr>
        <p:spPr>
          <a:xfrm>
            <a:off x="548640" y="2880360"/>
            <a:ext cx="5440680" cy="969264"/>
          </a:xfrm>
          <a:prstGeom prst="roundRect">
            <a:avLst>
              <a:gd name="adj" fmla="val 7547"/>
            </a:avLst>
          </a:prstGeom>
          <a:solidFill>
            <a:srgbClr val="FFFFFF"/>
          </a:solidFill>
          <a:ln/>
          <a:effectLst>
            <a:outerShdw blurRad="101600" dist="38100" dir="5400000" algn="bl" rotWithShape="0">
              <a:srgbClr val="000000">
                <a:alpha val="12000"/>
              </a:srgbClr>
            </a:outerShdw>
          </a:effectLst>
        </p:spPr>
      </p:sp>
      <p:sp>
        <p:nvSpPr>
          <p:cNvPr id="15" name="Shape 13"/>
          <p:cNvSpPr/>
          <p:nvPr/>
        </p:nvSpPr>
        <p:spPr>
          <a:xfrm>
            <a:off x="713232" y="3136392"/>
            <a:ext cx="457200" cy="457200"/>
          </a:xfrm>
          <a:prstGeom prst="ellipse">
            <a:avLst/>
          </a:prstGeom>
          <a:solidFill>
            <a:srgbClr val="1E2761"/>
          </a:solidFill>
          <a:ln/>
        </p:spPr>
      </p:sp>
      <p:sp>
        <p:nvSpPr>
          <p:cNvPr id="16" name="Text 14"/>
          <p:cNvSpPr/>
          <p:nvPr/>
        </p:nvSpPr>
        <p:spPr>
          <a:xfrm>
            <a:off x="713232" y="3136392"/>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325880" y="2971800"/>
            <a:ext cx="448056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Rebalance recruiting spend</a:t>
            </a:r>
            <a:endParaRPr lang="en-US" sz="1350" dirty="0"/>
          </a:p>
        </p:txBody>
      </p:sp>
      <p:sp>
        <p:nvSpPr>
          <p:cNvPr id="18" name="Text 16"/>
          <p:cNvSpPr/>
          <p:nvPr/>
        </p:nvSpPr>
        <p:spPr>
          <a:xfrm>
            <a:off x="1325880" y="3319272"/>
            <a:ext cx="4480560" cy="475488"/>
          </a:xfrm>
          <a:prstGeom prst="rect">
            <a:avLst/>
          </a:prstGeom>
          <a:noFill/>
          <a:ln/>
        </p:spPr>
        <p:txBody>
          <a:bodyPr wrap="square" rtlCol="0" anchor="ctr"/>
          <a:lstStyle/>
          <a:p>
            <a:pPr marL="0" indent="0">
              <a:buNone/>
            </a:pPr>
            <a:r>
              <a:rPr lang="en-US" sz="1100" dirty="0">
                <a:solidFill>
                  <a:srgbClr val="64708A"/>
                </a:solidFill>
                <a:latin typeface="Calibri" pitchFamily="34" charset="0"/>
                <a:ea typeface="Calibri" pitchFamily="34" charset="-122"/>
                <a:cs typeface="Calibri" pitchFamily="34" charset="-120"/>
              </a:rPr>
              <a:t>Shift toward Employee Referral &amp; Website; audit Google Search / Diversity Job Fair funnels to understand why early attrition is highest there.</a:t>
            </a:r>
            <a:endParaRPr lang="en-US" sz="1100" dirty="0"/>
          </a:p>
        </p:txBody>
      </p:sp>
      <p:sp>
        <p:nvSpPr>
          <p:cNvPr id="19" name="Shape 17"/>
          <p:cNvSpPr/>
          <p:nvPr/>
        </p:nvSpPr>
        <p:spPr>
          <a:xfrm>
            <a:off x="6172200" y="2880360"/>
            <a:ext cx="5440680" cy="969264"/>
          </a:xfrm>
          <a:prstGeom prst="roundRect">
            <a:avLst>
              <a:gd name="adj" fmla="val 7547"/>
            </a:avLst>
          </a:prstGeom>
          <a:solidFill>
            <a:srgbClr val="FFFFFF"/>
          </a:solidFill>
          <a:ln/>
          <a:effectLst>
            <a:outerShdw blurRad="101600" dist="38100" dir="5400000" algn="bl" rotWithShape="0">
              <a:srgbClr val="000000">
                <a:alpha val="12000"/>
              </a:srgbClr>
            </a:outerShdw>
          </a:effectLst>
        </p:spPr>
      </p:sp>
      <p:sp>
        <p:nvSpPr>
          <p:cNvPr id="20" name="Shape 18"/>
          <p:cNvSpPr/>
          <p:nvPr/>
        </p:nvSpPr>
        <p:spPr>
          <a:xfrm>
            <a:off x="6336792" y="3136392"/>
            <a:ext cx="457200" cy="457200"/>
          </a:xfrm>
          <a:prstGeom prst="ellipse">
            <a:avLst/>
          </a:prstGeom>
          <a:solidFill>
            <a:srgbClr val="1E2761"/>
          </a:solidFill>
          <a:ln/>
        </p:spPr>
      </p:sp>
      <p:sp>
        <p:nvSpPr>
          <p:cNvPr id="21" name="Text 19"/>
          <p:cNvSpPr/>
          <p:nvPr/>
        </p:nvSpPr>
        <p:spPr>
          <a:xfrm>
            <a:off x="6336792" y="3136392"/>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6949440" y="2971800"/>
            <a:ext cx="448056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Coach high-turnover managers</a:t>
            </a:r>
            <a:endParaRPr lang="en-US" sz="1350" dirty="0"/>
          </a:p>
        </p:txBody>
      </p:sp>
      <p:sp>
        <p:nvSpPr>
          <p:cNvPr id="23" name="Text 21"/>
          <p:cNvSpPr/>
          <p:nvPr/>
        </p:nvSpPr>
        <p:spPr>
          <a:xfrm>
            <a:off x="6949440" y="3319272"/>
            <a:ext cx="4480560" cy="475488"/>
          </a:xfrm>
          <a:prstGeom prst="rect">
            <a:avLst/>
          </a:prstGeom>
          <a:noFill/>
          <a:ln/>
        </p:spPr>
        <p:txBody>
          <a:bodyPr wrap="square" rtlCol="0" anchor="ctr"/>
          <a:lstStyle/>
          <a:p>
            <a:pPr marL="0" indent="0">
              <a:buNone/>
            </a:pPr>
            <a:r>
              <a:rPr lang="en-US" sz="1100" dirty="0">
                <a:solidFill>
                  <a:srgbClr val="64708A"/>
                </a:solidFill>
                <a:latin typeface="Calibri" pitchFamily="34" charset="0"/>
                <a:ea typeface="Calibri" pitchFamily="34" charset="-122"/>
                <a:cs typeface="Calibri" pitchFamily="34" charset="-120"/>
              </a:rPr>
              <a:t>Pair managers like Webster Butler &amp; Amy Dunn that has high performance and high turnover rate with mentors like Jennifer Zamora.</a:t>
            </a:r>
            <a:endParaRPr lang="en-US" sz="1100" dirty="0"/>
          </a:p>
        </p:txBody>
      </p:sp>
      <p:sp>
        <p:nvSpPr>
          <p:cNvPr id="24" name="Shape 22"/>
          <p:cNvSpPr/>
          <p:nvPr/>
        </p:nvSpPr>
        <p:spPr>
          <a:xfrm>
            <a:off x="548640" y="3977640"/>
            <a:ext cx="5440680" cy="969264"/>
          </a:xfrm>
          <a:prstGeom prst="roundRect">
            <a:avLst>
              <a:gd name="adj" fmla="val 7547"/>
            </a:avLst>
          </a:prstGeom>
          <a:solidFill>
            <a:srgbClr val="FFFFFF"/>
          </a:solidFill>
          <a:ln/>
          <a:effectLst>
            <a:outerShdw blurRad="101600" dist="38100" dir="5400000" algn="bl" rotWithShape="0">
              <a:srgbClr val="000000">
                <a:alpha val="12000"/>
              </a:srgbClr>
            </a:outerShdw>
          </a:effectLst>
        </p:spPr>
      </p:sp>
      <p:sp>
        <p:nvSpPr>
          <p:cNvPr id="25" name="Shape 23"/>
          <p:cNvSpPr/>
          <p:nvPr/>
        </p:nvSpPr>
        <p:spPr>
          <a:xfrm>
            <a:off x="713232" y="4233672"/>
            <a:ext cx="457200" cy="457200"/>
          </a:xfrm>
          <a:prstGeom prst="ellipse">
            <a:avLst/>
          </a:prstGeom>
          <a:solidFill>
            <a:srgbClr val="1E2761"/>
          </a:solidFill>
          <a:ln/>
        </p:spPr>
      </p:sp>
      <p:sp>
        <p:nvSpPr>
          <p:cNvPr id="26" name="Text 24"/>
          <p:cNvSpPr/>
          <p:nvPr/>
        </p:nvSpPr>
        <p:spPr>
          <a:xfrm>
            <a:off x="713232" y="4233672"/>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7" name="Text 25"/>
          <p:cNvSpPr/>
          <p:nvPr/>
        </p:nvSpPr>
        <p:spPr>
          <a:xfrm>
            <a:off x="1325880" y="4069080"/>
            <a:ext cx="448056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Commission a pay-equity audit</a:t>
            </a:r>
            <a:endParaRPr lang="en-US" sz="1350" dirty="0"/>
          </a:p>
        </p:txBody>
      </p:sp>
      <p:sp>
        <p:nvSpPr>
          <p:cNvPr id="28" name="Text 26"/>
          <p:cNvSpPr/>
          <p:nvPr/>
        </p:nvSpPr>
        <p:spPr>
          <a:xfrm>
            <a:off x="1325880" y="4416552"/>
            <a:ext cx="4480560" cy="475488"/>
          </a:xfrm>
          <a:prstGeom prst="rect">
            <a:avLst/>
          </a:prstGeom>
          <a:noFill/>
          <a:ln/>
        </p:spPr>
        <p:txBody>
          <a:bodyPr wrap="square" rtlCol="0" anchor="ctr"/>
          <a:lstStyle/>
          <a:p>
            <a:pPr marL="0" indent="0">
              <a:buNone/>
            </a:pPr>
            <a:r>
              <a:rPr lang="en-US" sz="1100" dirty="0">
                <a:solidFill>
                  <a:srgbClr val="64708A"/>
                </a:solidFill>
                <a:latin typeface="Calibri" pitchFamily="34" charset="0"/>
                <a:ea typeface="Calibri" pitchFamily="34" charset="-122"/>
                <a:cs typeface="Calibri" pitchFamily="34" charset="-120"/>
              </a:rPr>
              <a:t>Investigate department-level gaps controlling for role, tenure &amp; performance.</a:t>
            </a:r>
            <a:endParaRPr lang="en-US" sz="1100" dirty="0"/>
          </a:p>
        </p:txBody>
      </p:sp>
      <p:sp>
        <p:nvSpPr>
          <p:cNvPr id="29" name="Shape 27"/>
          <p:cNvSpPr/>
          <p:nvPr/>
        </p:nvSpPr>
        <p:spPr>
          <a:xfrm>
            <a:off x="6172200" y="3977640"/>
            <a:ext cx="5440680" cy="969264"/>
          </a:xfrm>
          <a:prstGeom prst="roundRect">
            <a:avLst>
              <a:gd name="adj" fmla="val 7547"/>
            </a:avLst>
          </a:prstGeom>
          <a:solidFill>
            <a:srgbClr val="FFFFFF"/>
          </a:solidFill>
          <a:ln/>
          <a:effectLst>
            <a:outerShdw blurRad="101600" dist="38100" dir="5400000" algn="bl" rotWithShape="0">
              <a:srgbClr val="000000">
                <a:alpha val="12000"/>
              </a:srgbClr>
            </a:outerShdw>
          </a:effectLst>
        </p:spPr>
      </p:sp>
      <p:sp>
        <p:nvSpPr>
          <p:cNvPr id="30" name="Shape 28"/>
          <p:cNvSpPr/>
          <p:nvPr/>
        </p:nvSpPr>
        <p:spPr>
          <a:xfrm>
            <a:off x="6336792" y="4233672"/>
            <a:ext cx="457200" cy="457200"/>
          </a:xfrm>
          <a:prstGeom prst="ellipse">
            <a:avLst/>
          </a:prstGeom>
          <a:solidFill>
            <a:srgbClr val="1E2761"/>
          </a:solidFill>
          <a:ln/>
        </p:spPr>
      </p:sp>
      <p:sp>
        <p:nvSpPr>
          <p:cNvPr id="31" name="Text 29"/>
          <p:cNvSpPr/>
          <p:nvPr/>
        </p:nvSpPr>
        <p:spPr>
          <a:xfrm>
            <a:off x="6336792" y="4233672"/>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2" name="Text 30"/>
          <p:cNvSpPr/>
          <p:nvPr/>
        </p:nvSpPr>
        <p:spPr>
          <a:xfrm>
            <a:off x="6949440" y="4069080"/>
            <a:ext cx="448056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Redesign the engagement survey</a:t>
            </a:r>
            <a:endParaRPr lang="en-US" sz="1350" dirty="0"/>
          </a:p>
        </p:txBody>
      </p:sp>
      <p:sp>
        <p:nvSpPr>
          <p:cNvPr id="33" name="Text 31"/>
          <p:cNvSpPr/>
          <p:nvPr/>
        </p:nvSpPr>
        <p:spPr>
          <a:xfrm>
            <a:off x="6949440" y="4416552"/>
            <a:ext cx="4480560" cy="475488"/>
          </a:xfrm>
          <a:prstGeom prst="rect">
            <a:avLst/>
          </a:prstGeom>
          <a:noFill/>
          <a:ln/>
        </p:spPr>
        <p:txBody>
          <a:bodyPr wrap="square" rtlCol="0" anchor="ctr"/>
          <a:lstStyle/>
          <a:p>
            <a:pPr marL="0" indent="0">
              <a:buNone/>
            </a:pPr>
            <a:r>
              <a:rPr lang="en-US" sz="1100" dirty="0">
                <a:solidFill>
                  <a:srgbClr val="64708A"/>
                </a:solidFill>
                <a:latin typeface="Calibri" pitchFamily="34" charset="0"/>
                <a:ea typeface="Calibri" pitchFamily="34" charset="-122"/>
                <a:cs typeface="Calibri" pitchFamily="34" charset="-120"/>
              </a:rPr>
              <a:t>Current scores don't predict attrition, it capture more actionable drivers.</a:t>
            </a:r>
            <a:endParaRPr lang="en-US" sz="1100" dirty="0"/>
          </a:p>
        </p:txBody>
      </p:sp>
      <p:sp>
        <p:nvSpPr>
          <p:cNvPr id="34" name="Shape 32"/>
          <p:cNvSpPr/>
          <p:nvPr/>
        </p:nvSpPr>
        <p:spPr>
          <a:xfrm>
            <a:off x="548640" y="5074920"/>
            <a:ext cx="5440680" cy="969264"/>
          </a:xfrm>
          <a:prstGeom prst="roundRect">
            <a:avLst>
              <a:gd name="adj" fmla="val 7547"/>
            </a:avLst>
          </a:prstGeom>
          <a:solidFill>
            <a:srgbClr val="FFFFFF"/>
          </a:solidFill>
          <a:ln/>
          <a:effectLst>
            <a:outerShdw blurRad="101600" dist="38100" dir="5400000" algn="bl" rotWithShape="0">
              <a:srgbClr val="000000">
                <a:alpha val="12000"/>
              </a:srgbClr>
            </a:outerShdw>
          </a:effectLst>
        </p:spPr>
      </p:sp>
      <p:sp>
        <p:nvSpPr>
          <p:cNvPr id="35" name="Shape 33"/>
          <p:cNvSpPr/>
          <p:nvPr/>
        </p:nvSpPr>
        <p:spPr>
          <a:xfrm>
            <a:off x="713232" y="5330952"/>
            <a:ext cx="457200" cy="457200"/>
          </a:xfrm>
          <a:prstGeom prst="ellipse">
            <a:avLst/>
          </a:prstGeom>
          <a:solidFill>
            <a:srgbClr val="1E2761"/>
          </a:solidFill>
          <a:ln/>
        </p:spPr>
      </p:sp>
      <p:sp>
        <p:nvSpPr>
          <p:cNvPr id="36" name="Text 34"/>
          <p:cNvSpPr/>
          <p:nvPr/>
        </p:nvSpPr>
        <p:spPr>
          <a:xfrm>
            <a:off x="713232" y="5330952"/>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37" name="Text 35"/>
          <p:cNvSpPr/>
          <p:nvPr/>
        </p:nvSpPr>
        <p:spPr>
          <a:xfrm>
            <a:off x="1325880" y="5166360"/>
            <a:ext cx="448056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Review Sales workload &amp; incentives</a:t>
            </a:r>
            <a:endParaRPr lang="en-US" sz="1350" dirty="0"/>
          </a:p>
        </p:txBody>
      </p:sp>
      <p:sp>
        <p:nvSpPr>
          <p:cNvPr id="38" name="Text 36"/>
          <p:cNvSpPr/>
          <p:nvPr/>
        </p:nvSpPr>
        <p:spPr>
          <a:xfrm>
            <a:off x="1325880" y="5513832"/>
            <a:ext cx="4480560" cy="475488"/>
          </a:xfrm>
          <a:prstGeom prst="rect">
            <a:avLst/>
          </a:prstGeom>
          <a:noFill/>
          <a:ln/>
        </p:spPr>
        <p:txBody>
          <a:bodyPr wrap="square" rtlCol="0" anchor="ctr"/>
          <a:lstStyle/>
          <a:p>
            <a:pPr marL="0" indent="0">
              <a:buNone/>
            </a:pPr>
            <a:r>
              <a:rPr lang="en-US" sz="1100" dirty="0">
                <a:solidFill>
                  <a:srgbClr val="64708A"/>
                </a:solidFill>
                <a:latin typeface="Calibri" pitchFamily="34" charset="0"/>
                <a:ea typeface="Calibri" pitchFamily="34" charset="-122"/>
                <a:cs typeface="Calibri" pitchFamily="34" charset="-120"/>
              </a:rPr>
              <a:t>Lowest performance + highest absenteeism warrants a combined review.</a:t>
            </a:r>
            <a:endParaRPr lang="en-US" sz="1100" dirty="0"/>
          </a:p>
        </p:txBody>
      </p:sp>
      <p:sp>
        <p:nvSpPr>
          <p:cNvPr id="39" name="Shape 37"/>
          <p:cNvSpPr/>
          <p:nvPr/>
        </p:nvSpPr>
        <p:spPr>
          <a:xfrm>
            <a:off x="6172200" y="5074920"/>
            <a:ext cx="5440680" cy="969264"/>
          </a:xfrm>
          <a:prstGeom prst="roundRect">
            <a:avLst>
              <a:gd name="adj" fmla="val 7547"/>
            </a:avLst>
          </a:prstGeom>
          <a:solidFill>
            <a:srgbClr val="FFFFFF"/>
          </a:solidFill>
          <a:ln/>
          <a:effectLst>
            <a:outerShdw blurRad="101600" dist="38100" dir="5400000" algn="bl" rotWithShape="0">
              <a:srgbClr val="000000">
                <a:alpha val="12000"/>
              </a:srgbClr>
            </a:outerShdw>
          </a:effectLst>
        </p:spPr>
      </p:sp>
      <p:sp>
        <p:nvSpPr>
          <p:cNvPr id="40" name="Shape 38"/>
          <p:cNvSpPr/>
          <p:nvPr/>
        </p:nvSpPr>
        <p:spPr>
          <a:xfrm>
            <a:off x="6336792" y="5330952"/>
            <a:ext cx="457200" cy="457200"/>
          </a:xfrm>
          <a:prstGeom prst="ellipse">
            <a:avLst/>
          </a:prstGeom>
          <a:solidFill>
            <a:srgbClr val="1E2761"/>
          </a:solidFill>
          <a:ln/>
        </p:spPr>
      </p:sp>
      <p:sp>
        <p:nvSpPr>
          <p:cNvPr id="41" name="Text 39"/>
          <p:cNvSpPr/>
          <p:nvPr/>
        </p:nvSpPr>
        <p:spPr>
          <a:xfrm>
            <a:off x="6336792" y="5330952"/>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42" name="Text 40"/>
          <p:cNvSpPr/>
          <p:nvPr/>
        </p:nvSpPr>
        <p:spPr>
          <a:xfrm>
            <a:off x="6949440" y="5166360"/>
            <a:ext cx="448056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Operationalize the dashboard</a:t>
            </a:r>
            <a:endParaRPr lang="en-US" sz="1350" dirty="0"/>
          </a:p>
        </p:txBody>
      </p:sp>
      <p:sp>
        <p:nvSpPr>
          <p:cNvPr id="43" name="Text 41"/>
          <p:cNvSpPr/>
          <p:nvPr/>
        </p:nvSpPr>
        <p:spPr>
          <a:xfrm>
            <a:off x="6949440" y="5513832"/>
            <a:ext cx="4480560" cy="475488"/>
          </a:xfrm>
          <a:prstGeom prst="rect">
            <a:avLst/>
          </a:prstGeom>
          <a:noFill/>
          <a:ln/>
        </p:spPr>
        <p:txBody>
          <a:bodyPr wrap="square" rtlCol="0" anchor="ctr"/>
          <a:lstStyle/>
          <a:p>
            <a:pPr marL="0" indent="0">
              <a:buNone/>
            </a:pPr>
            <a:r>
              <a:rPr lang="en-US" sz="1100" dirty="0">
                <a:solidFill>
                  <a:srgbClr val="64708A"/>
                </a:solidFill>
                <a:latin typeface="Calibri" pitchFamily="34" charset="0"/>
                <a:ea typeface="Calibri" pitchFamily="34" charset="-122"/>
                <a:cs typeface="Calibri" pitchFamily="34" charset="-120"/>
              </a:rPr>
              <a:t>Assign ownership of KPI cards so findings are monitored, not just reported once.</a:t>
            </a:r>
            <a:endParaRPr lang="en-US" sz="1100" dirty="0"/>
          </a:p>
        </p:txBody>
      </p:sp>
      <p:sp>
        <p:nvSpPr>
          <p:cNvPr id="44" name="Text 42"/>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64708A"/>
                </a:solidFill>
                <a:latin typeface="Calibri" pitchFamily="34" charset="0"/>
                <a:ea typeface="Calibri" pitchFamily="34" charset="-122"/>
                <a:cs typeface="Calibri" pitchFamily="34" charset="-120"/>
              </a:rPr>
              <a:t>HR Workforce Analytics</a:t>
            </a:r>
            <a:endParaRPr lang="en-US" sz="900" dirty="0"/>
          </a:p>
        </p:txBody>
      </p:sp>
      <p:sp>
        <p:nvSpPr>
          <p:cNvPr id="45" name="Text 4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4708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869680" y="-2011680"/>
            <a:ext cx="5486400" cy="5486400"/>
          </a:xfrm>
          <a:prstGeom prst="ellipse">
            <a:avLst/>
          </a:prstGeom>
          <a:solidFill>
            <a:srgbClr val="16204A"/>
          </a:solidFill>
          <a:ln/>
        </p:spPr>
      </p:sp>
      <p:sp>
        <p:nvSpPr>
          <p:cNvPr id="3" name="Text 1"/>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OUR RECOMMENDATION TO THE COMPANY</a:t>
            </a:r>
            <a:endParaRPr lang="en-US" sz="1200" dirty="0"/>
          </a:p>
        </p:txBody>
      </p:sp>
      <p:sp>
        <p:nvSpPr>
          <p:cNvPr id="4" name="Text 2"/>
          <p:cNvSpPr/>
          <p:nvPr/>
        </p:nvSpPr>
        <p:spPr>
          <a:xfrm>
            <a:off x="548640" y="1463040"/>
            <a:ext cx="11064240" cy="1554480"/>
          </a:xfrm>
          <a:prstGeom prst="rect">
            <a:avLst/>
          </a:prstGeom>
          <a:noFill/>
          <a:ln/>
        </p:spPr>
        <p:txBody>
          <a:bodyPr wrap="square" rtlCol="0" anchor="ctr"/>
          <a:lstStyle/>
          <a:p>
            <a:pPr marL="0" indent="0">
              <a:lnSpc>
                <a:spcPct val="108000"/>
              </a:lnSpc>
              <a:buNone/>
            </a:pPr>
            <a:r>
              <a:rPr lang="en-US" sz="3000" b="1" dirty="0">
                <a:solidFill>
                  <a:srgbClr val="FFFFFF"/>
                </a:solidFill>
                <a:latin typeface="Cambria" pitchFamily="34" charset="0"/>
                <a:ea typeface="Cambria" pitchFamily="34" charset="-122"/>
                <a:cs typeface="Cambria" pitchFamily="34" charset="-120"/>
              </a:rPr>
              <a:t>Treat the first 12 months of employment as the top retention priority and fund it accordingly.</a:t>
            </a:r>
            <a:endParaRPr lang="en-US" sz="3000" dirty="0"/>
          </a:p>
        </p:txBody>
      </p:sp>
      <p:sp>
        <p:nvSpPr>
          <p:cNvPr id="5" name="Text 3"/>
          <p:cNvSpPr/>
          <p:nvPr/>
        </p:nvSpPr>
        <p:spPr>
          <a:xfrm>
            <a:off x="548640" y="3063240"/>
            <a:ext cx="10607040" cy="1234440"/>
          </a:xfrm>
          <a:prstGeom prst="rect">
            <a:avLst/>
          </a:prstGeom>
          <a:noFill/>
          <a:ln/>
        </p:spPr>
        <p:txBody>
          <a:bodyPr wrap="square" rtlCol="0" anchor="ctr"/>
          <a:lstStyle/>
          <a:p>
            <a:pPr marL="0" indent="0">
              <a:buNone/>
            </a:pPr>
            <a:r>
              <a:rPr lang="en-US" sz="1500" dirty="0">
                <a:solidFill>
                  <a:srgbClr val="CADCFC"/>
                </a:solidFill>
                <a:latin typeface="Calibri" pitchFamily="34" charset="0"/>
                <a:ea typeface="Calibri" pitchFamily="34" charset="-122"/>
                <a:cs typeface="Calibri" pitchFamily="34" charset="-120"/>
              </a:rPr>
              <a:t>The data is unambiguous: 90% of attrition risk sits in year one, and it is concentrated in Production and in specific recruitment channels. It is not spread evenly across tenure, satisfaction, or pay. Every dollar spent improving early-tenure onboarding, Production retention, and sourcing mix will outperform broad, undifferentiated HR spending.</a:t>
            </a:r>
            <a:endParaRPr lang="en-US" sz="1500" dirty="0"/>
          </a:p>
        </p:txBody>
      </p:sp>
      <p:sp>
        <p:nvSpPr>
          <p:cNvPr id="6" name="Shape 4"/>
          <p:cNvSpPr/>
          <p:nvPr/>
        </p:nvSpPr>
        <p:spPr>
          <a:xfrm>
            <a:off x="548640" y="4572000"/>
            <a:ext cx="146304" cy="146304"/>
          </a:xfrm>
          <a:prstGeom prst="ellipse">
            <a:avLst/>
          </a:prstGeom>
          <a:solidFill>
            <a:srgbClr val="C9A227"/>
          </a:solidFill>
          <a:ln/>
        </p:spPr>
      </p:sp>
      <p:sp>
        <p:nvSpPr>
          <p:cNvPr id="7" name="Text 5"/>
          <p:cNvSpPr/>
          <p:nvPr/>
        </p:nvSpPr>
        <p:spPr>
          <a:xfrm>
            <a:off x="841248" y="4453128"/>
            <a:ext cx="10424160" cy="3657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Approve a structured first-year onboarding program with named ownership</a:t>
            </a:r>
            <a:endParaRPr lang="en-US" sz="1400" dirty="0"/>
          </a:p>
        </p:txBody>
      </p:sp>
      <p:sp>
        <p:nvSpPr>
          <p:cNvPr id="8" name="Shape 6"/>
          <p:cNvSpPr/>
          <p:nvPr/>
        </p:nvSpPr>
        <p:spPr>
          <a:xfrm>
            <a:off x="548640" y="4956048"/>
            <a:ext cx="146304" cy="146304"/>
          </a:xfrm>
          <a:prstGeom prst="ellipse">
            <a:avLst/>
          </a:prstGeom>
          <a:solidFill>
            <a:srgbClr val="C9A227"/>
          </a:solidFill>
          <a:ln/>
        </p:spPr>
      </p:sp>
      <p:sp>
        <p:nvSpPr>
          <p:cNvPr id="9" name="Text 7"/>
          <p:cNvSpPr/>
          <p:nvPr/>
        </p:nvSpPr>
        <p:spPr>
          <a:xfrm>
            <a:off x="841248" y="4837176"/>
            <a:ext cx="10424160" cy="3657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Fund a targeted Production retention initiative </a:t>
            </a:r>
            <a:endParaRPr lang="en-US" sz="1400" dirty="0"/>
          </a:p>
        </p:txBody>
      </p:sp>
      <p:sp>
        <p:nvSpPr>
          <p:cNvPr id="10" name="Shape 8"/>
          <p:cNvSpPr/>
          <p:nvPr/>
        </p:nvSpPr>
        <p:spPr>
          <a:xfrm>
            <a:off x="548640" y="5340096"/>
            <a:ext cx="146304" cy="146304"/>
          </a:xfrm>
          <a:prstGeom prst="ellipse">
            <a:avLst/>
          </a:prstGeom>
          <a:solidFill>
            <a:srgbClr val="C9A227"/>
          </a:solidFill>
          <a:ln/>
        </p:spPr>
      </p:sp>
      <p:sp>
        <p:nvSpPr>
          <p:cNvPr id="11" name="Text 9"/>
          <p:cNvSpPr/>
          <p:nvPr/>
        </p:nvSpPr>
        <p:spPr>
          <a:xfrm>
            <a:off x="841248" y="5221224"/>
            <a:ext cx="10424160" cy="3657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Rebalance recruiting budget toward Referral &amp; Website sourcing</a:t>
            </a:r>
            <a:endParaRPr lang="en-US" sz="1400" dirty="0"/>
          </a:p>
        </p:txBody>
      </p:sp>
      <p:sp>
        <p:nvSpPr>
          <p:cNvPr id="12" name="Shape 10"/>
          <p:cNvSpPr/>
          <p:nvPr/>
        </p:nvSpPr>
        <p:spPr>
          <a:xfrm>
            <a:off x="548640" y="5724144"/>
            <a:ext cx="146304" cy="146304"/>
          </a:xfrm>
          <a:prstGeom prst="ellipse">
            <a:avLst/>
          </a:prstGeom>
          <a:solidFill>
            <a:srgbClr val="C9A227"/>
          </a:solidFill>
          <a:ln/>
        </p:spPr>
      </p:sp>
      <p:sp>
        <p:nvSpPr>
          <p:cNvPr id="13" name="Text 11"/>
          <p:cNvSpPr/>
          <p:nvPr/>
        </p:nvSpPr>
        <p:spPr>
          <a:xfrm>
            <a:off x="841248" y="5605272"/>
            <a:ext cx="10424160" cy="3657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Re-run this analysis quarterly using the live Power BI dashboard</a:t>
            </a:r>
            <a:endParaRPr lang="en-US" sz="1400" dirty="0"/>
          </a:p>
        </p:txBody>
      </p:sp>
      <p:sp>
        <p:nvSpPr>
          <p:cNvPr id="14" name="Text 12"/>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592B5"/>
                </a:solidFill>
                <a:latin typeface="Calibri" pitchFamily="34" charset="0"/>
                <a:ea typeface="Calibri" pitchFamily="34" charset="-122"/>
                <a:cs typeface="Calibri" pitchFamily="34" charset="-120"/>
              </a:rPr>
              <a:t>HR Workforce Analytics</a:t>
            </a:r>
            <a:endParaRPr lang="en-US" sz="900" dirty="0"/>
          </a:p>
        </p:txBody>
      </p:sp>
      <p:sp>
        <p:nvSpPr>
          <p:cNvPr id="15" name="Text 1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8592B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2194560" y="4206240"/>
            <a:ext cx="4572000" cy="4572000"/>
          </a:xfrm>
          <a:prstGeom prst="ellipse">
            <a:avLst/>
          </a:prstGeom>
          <a:solidFill>
            <a:srgbClr val="16204A"/>
          </a:solidFill>
          <a:ln/>
        </p:spPr>
      </p:sp>
      <p:sp>
        <p:nvSpPr>
          <p:cNvPr id="3" name="Text 1"/>
          <p:cNvSpPr/>
          <p:nvPr/>
        </p:nvSpPr>
        <p:spPr>
          <a:xfrm>
            <a:off x="822960" y="2651760"/>
            <a:ext cx="9144000" cy="100584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4" name="Text 2"/>
          <p:cNvSpPr/>
          <p:nvPr/>
        </p:nvSpPr>
        <p:spPr>
          <a:xfrm>
            <a:off x="822960" y="3520440"/>
            <a:ext cx="9144000" cy="548640"/>
          </a:xfrm>
          <a:prstGeom prst="rect">
            <a:avLst/>
          </a:prstGeom>
          <a:noFill/>
          <a:ln/>
        </p:spPr>
        <p:txBody>
          <a:bodyPr wrap="square"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Questions &amp; Discussion</a:t>
            </a:r>
            <a:endParaRPr lang="en-US" sz="1800" dirty="0"/>
          </a:p>
        </p:txBody>
      </p:sp>
      <p:sp>
        <p:nvSpPr>
          <p:cNvPr id="5" name="Shape 3"/>
          <p:cNvSpPr/>
          <p:nvPr/>
        </p:nvSpPr>
        <p:spPr>
          <a:xfrm>
            <a:off x="822960" y="4206240"/>
            <a:ext cx="2926080" cy="0"/>
          </a:xfrm>
          <a:prstGeom prst="line">
            <a:avLst/>
          </a:prstGeom>
          <a:noFill/>
          <a:ln w="25400">
            <a:solidFill>
              <a:srgbClr val="C9A227"/>
            </a:solidFill>
            <a:prstDash val="solid"/>
          </a:ln>
        </p:spPr>
      </p:sp>
      <p:sp>
        <p:nvSpPr>
          <p:cNvPr id="6" name="Text 4"/>
          <p:cNvSpPr/>
          <p:nvPr/>
        </p:nvSpPr>
        <p:spPr>
          <a:xfrm>
            <a:off x="822960" y="4389120"/>
            <a:ext cx="8229600" cy="457200"/>
          </a:xfrm>
          <a:prstGeom prst="rect">
            <a:avLst/>
          </a:prstGeom>
          <a:noFill/>
          <a:ln/>
        </p:spPr>
        <p:txBody>
          <a:bodyPr wrap="square" rtlCol="0" anchor="ctr"/>
          <a:lstStyle/>
          <a:p>
            <a:pPr marL="0" indent="0">
              <a:buNone/>
            </a:pPr>
            <a:r>
              <a:rPr lang="en-US" sz="1250" dirty="0">
                <a:solidFill>
                  <a:srgbClr val="AEB9D6"/>
                </a:solidFill>
                <a:latin typeface="Calibri" pitchFamily="34" charset="0"/>
                <a:ea typeface="Calibri" pitchFamily="34" charset="-122"/>
                <a:cs typeface="Calibri" pitchFamily="34" charset="-120"/>
              </a:rPr>
              <a:t>Full findings, methodology and data notes are documented in the companion HR Analytics Report.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778</TotalTime>
  <Words>1453</Words>
  <Application>Microsoft Office PowerPoint</Application>
  <PresentationFormat>Widescreen</PresentationFormat>
  <Paragraphs>238</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Workforce Analytics — Retention, Performance &amp; Turnover</dc:title>
  <dc:subject>PptxGenJS Presentation</dc:subject>
  <dc:creator>HR Analytics</dc:creator>
  <cp:lastModifiedBy>chinonye</cp:lastModifiedBy>
  <cp:revision>5</cp:revision>
  <dcterms:created xsi:type="dcterms:W3CDTF">2026-07-02T11:07:14Z</dcterms:created>
  <dcterms:modified xsi:type="dcterms:W3CDTF">2026-07-06T11:29:50Z</dcterms:modified>
</cp:coreProperties>
</file>